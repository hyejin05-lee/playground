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25" r:id="rId2"/>
    <p:sldId id="485" r:id="rId3"/>
    <p:sldId id="486" r:id="rId4"/>
    <p:sldId id="487" r:id="rId5"/>
    <p:sldId id="490" r:id="rId6"/>
    <p:sldId id="488" r:id="rId7"/>
    <p:sldId id="491" r:id="rId8"/>
    <p:sldId id="489" r:id="rId9"/>
    <p:sldId id="492" r:id="rId10"/>
    <p:sldId id="353" r:id="rId11"/>
    <p:sldId id="493" r:id="rId12"/>
    <p:sldId id="364" r:id="rId13"/>
    <p:sldId id="494" r:id="rId14"/>
    <p:sldId id="514" r:id="rId15"/>
    <p:sldId id="515" r:id="rId16"/>
    <p:sldId id="500" r:id="rId17"/>
    <p:sldId id="501" r:id="rId18"/>
    <p:sldId id="389" r:id="rId19"/>
    <p:sldId id="502" r:id="rId20"/>
    <p:sldId id="399" r:id="rId21"/>
    <p:sldId id="503" r:id="rId22"/>
    <p:sldId id="404" r:id="rId23"/>
    <p:sldId id="504" r:id="rId24"/>
    <p:sldId id="410" r:id="rId25"/>
    <p:sldId id="505" r:id="rId26"/>
    <p:sldId id="418" r:id="rId27"/>
    <p:sldId id="506" r:id="rId28"/>
    <p:sldId id="426" r:id="rId29"/>
    <p:sldId id="507" r:id="rId30"/>
    <p:sldId id="495" r:id="rId31"/>
    <p:sldId id="496" r:id="rId32"/>
    <p:sldId id="497" r:id="rId33"/>
    <p:sldId id="498" r:id="rId34"/>
    <p:sldId id="499" r:id="rId35"/>
    <p:sldId id="381" r:id="rId36"/>
    <p:sldId id="508" r:id="rId37"/>
    <p:sldId id="388" r:id="rId38"/>
    <p:sldId id="509" r:id="rId39"/>
    <p:sldId id="397" r:id="rId40"/>
    <p:sldId id="510" r:id="rId41"/>
    <p:sldId id="442" r:id="rId42"/>
    <p:sldId id="511" r:id="rId43"/>
    <p:sldId id="456" r:id="rId44"/>
    <p:sldId id="512" r:id="rId45"/>
    <p:sldId id="469" r:id="rId46"/>
    <p:sldId id="513" r:id="rId4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6BD"/>
    <a:srgbClr val="DCE6F2"/>
    <a:srgbClr val="EBF1DE"/>
    <a:srgbClr val="B2CCEC"/>
    <a:srgbClr val="5974BF"/>
    <a:srgbClr val="83A1DD"/>
    <a:srgbClr val="6679CC"/>
    <a:srgbClr val="2A2D72"/>
    <a:srgbClr val="525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3293" autoAdjust="0"/>
  </p:normalViewPr>
  <p:slideViewPr>
    <p:cSldViewPr>
      <p:cViewPr varScale="1">
        <p:scale>
          <a:sx n="136" d="100"/>
          <a:sy n="136" d="100"/>
        </p:scale>
        <p:origin x="71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29472"/>
    </p:cViewPr>
  </p:sorter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8944F-6416-492C-B6C3-972994AD2AFD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2678C-18E7-4230-B1D8-B77B8B4C5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21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35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7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23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3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930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39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162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20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378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10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74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255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593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480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219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326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63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4326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989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248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245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0303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152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0628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2673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030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432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428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465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24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2803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5992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3934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752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5208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9508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514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2844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1123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9908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678C-18E7-4230-B1D8-B77B8B4C5AF8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4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" y="0"/>
            <a:ext cx="9138433" cy="5140368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752586" y="1407639"/>
            <a:ext cx="7772400" cy="714003"/>
          </a:xfrm>
          <a:prstGeom prst="rect">
            <a:avLst/>
          </a:prstGeom>
        </p:spPr>
        <p:txBody>
          <a:bodyPr anchor="t"/>
          <a:lstStyle>
            <a:lvl1pPr algn="ctr">
              <a:defRPr sz="3600" b="1" cap="all" spc="-150">
                <a:ln>
                  <a:noFill/>
                </a:ln>
                <a:solidFill>
                  <a:srgbClr val="2A2D7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2"/>
          <p:cNvSpPr>
            <a:spLocks noGrp="1"/>
          </p:cNvSpPr>
          <p:nvPr>
            <p:ph type="body" idx="1"/>
          </p:nvPr>
        </p:nvSpPr>
        <p:spPr>
          <a:xfrm>
            <a:off x="752586" y="865118"/>
            <a:ext cx="7772400" cy="4920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1" name="텍스트 개체 틀 2"/>
          <p:cNvSpPr>
            <a:spLocks noGrp="1"/>
          </p:cNvSpPr>
          <p:nvPr>
            <p:ph type="body" idx="10"/>
          </p:nvPr>
        </p:nvSpPr>
        <p:spPr>
          <a:xfrm>
            <a:off x="1687782" y="4239915"/>
            <a:ext cx="5904656" cy="4920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2000" b="1" spc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텍스트 개체 틀 2"/>
          <p:cNvSpPr>
            <a:spLocks noGrp="1"/>
          </p:cNvSpPr>
          <p:nvPr>
            <p:ph type="body" idx="11"/>
          </p:nvPr>
        </p:nvSpPr>
        <p:spPr>
          <a:xfrm>
            <a:off x="1687785" y="3735859"/>
            <a:ext cx="5904657" cy="49207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spc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텍스트 개체 틀 2"/>
          <p:cNvSpPr>
            <a:spLocks noGrp="1"/>
          </p:cNvSpPr>
          <p:nvPr>
            <p:ph type="body" idx="12"/>
          </p:nvPr>
        </p:nvSpPr>
        <p:spPr>
          <a:xfrm>
            <a:off x="2712404" y="2656370"/>
            <a:ext cx="3888432" cy="4320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lang="ko-KR" altLang="en-US" sz="1800" kern="1200" dirty="0" smtClean="0">
                <a:ln>
                  <a:solidFill>
                    <a:srgbClr val="4156BD">
                      <a:alpha val="500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5166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525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sz="3600" b="0" kern="1200" spc="-100" baseline="0" dirty="0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 algn="l" defTabSz="759272" rtl="0" eaLnBrk="1" latin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</p:spPr>
        <p:txBody>
          <a:bodyPr/>
          <a:lstStyle>
            <a:lvl1pPr marL="361950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2000" b="1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1437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6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6325" indent="-252000">
              <a:lnSpc>
                <a:spcPct val="130000"/>
              </a:lnSpc>
              <a:buClr>
                <a:schemeClr val="accent1"/>
              </a:buClr>
              <a:buSzPct val="100000"/>
              <a:buFont typeface="+mj-lt"/>
              <a:buAutoNum type="arabicPeriod"/>
              <a:defRPr sz="1400" spc="-120" baseline="0">
                <a:solidFill>
                  <a:srgbClr val="1E1E2A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43025" indent="-266700">
              <a:lnSpc>
                <a:spcPct val="130000"/>
              </a:lnSpc>
              <a:buFont typeface="+mj-lt"/>
              <a:buAutoNum type="arabicPeriod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619250" indent="-276225">
              <a:lnSpc>
                <a:spcPct val="130000"/>
              </a:lnSpc>
              <a:buFont typeface="+mj-lt"/>
              <a:buAutoNum type="arabicPeriod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1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/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7602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"/>
            <a:ext cx="9144000" cy="5143500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4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rgbClr val="5974BF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81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3751262"/>
          </a:xfrm>
          <a:prstGeom prst="rect">
            <a:avLst/>
          </a:prstGeom>
        </p:spPr>
        <p:txBody>
          <a:bodyPr/>
          <a:lstStyle>
            <a:lvl1pPr marL="271463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1338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8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04863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5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074738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2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346200" indent="-180000">
              <a:lnSpc>
                <a:spcPct val="130000"/>
              </a:lnSpc>
              <a:spcAft>
                <a:spcPts val="500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000" spc="-12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  <a:prstGeom prst="rect">
            <a:avLst/>
          </a:prstGeom>
        </p:spPr>
        <p:txBody>
          <a:bodyPr vert="horz" lIns="75927" tIns="37964" rIns="75927" bIns="37964" rtlCol="0" anchor="ctr">
            <a:normAutofit/>
          </a:bodyPr>
          <a:lstStyle>
            <a:lvl1pPr algn="l">
              <a:defRPr lang="ko-KR" altLang="en-US" sz="2400" b="1" spc="-100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759272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472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13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13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3C65-D02E-4E12-BBF0-35296EE360BB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48A1-790C-457C-9116-8D1E07851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2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41881" y="1353691"/>
            <a:ext cx="7772400" cy="714003"/>
          </a:xfrm>
        </p:spPr>
        <p:txBody>
          <a:bodyPr>
            <a:normAutofit/>
          </a:bodyPr>
          <a:lstStyle/>
          <a:p>
            <a:r>
              <a:rPr lang="en-US" altLang="ko-KR" dirty="0"/>
              <a:t>Architecture Design</a:t>
            </a:r>
            <a:endParaRPr lang="ko-KR" altLang="en-US" dirty="0"/>
          </a:p>
        </p:txBody>
      </p:sp>
      <p:sp>
        <p:nvSpPr>
          <p:cNvPr id="5" name="텍스트 개체 틀 2"/>
          <p:cNvSpPr>
            <a:spLocks noGrp="1"/>
          </p:cNvSpPr>
          <p:nvPr>
            <p:ph type="body" idx="1"/>
          </p:nvPr>
        </p:nvSpPr>
        <p:spPr>
          <a:xfrm>
            <a:off x="648654" y="794817"/>
            <a:ext cx="7772400" cy="492075"/>
          </a:xfrm>
        </p:spPr>
        <p:txBody>
          <a:bodyPr/>
          <a:lstStyle/>
          <a:p>
            <a:r>
              <a:rPr lang="en-US" altLang="ko-KR" dirty="0"/>
              <a:t>Associate Architect </a:t>
            </a:r>
            <a:r>
              <a:rPr lang="ko-KR" altLang="en-US" dirty="0"/>
              <a:t>양성 과정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057176" y="4275345"/>
            <a:ext cx="3029638" cy="0"/>
          </a:xfrm>
          <a:prstGeom prst="line">
            <a:avLst/>
          </a:prstGeom>
          <a:ln>
            <a:solidFill>
              <a:srgbClr val="97AF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6"/>
          <p:cNvSpPr>
            <a:spLocks noGrp="1"/>
          </p:cNvSpPr>
          <p:nvPr>
            <p:ph type="body" idx="12"/>
          </p:nvPr>
        </p:nvSpPr>
        <p:spPr>
          <a:xfrm>
            <a:off x="2257054" y="2413238"/>
            <a:ext cx="4403178" cy="369704"/>
          </a:xfrm>
        </p:spPr>
        <p:txBody>
          <a:bodyPr/>
          <a:lstStyle/>
          <a:p>
            <a:r>
              <a:rPr lang="en-US" altLang="ko-KR" sz="2000" b="1" dirty="0"/>
              <a:t>Architecture Style</a:t>
            </a:r>
            <a:r>
              <a:rPr lang="ko-KR" altLang="en-US" sz="2000" b="1" dirty="0"/>
              <a:t>별 특징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057176" y="4275345"/>
            <a:ext cx="3029638" cy="0"/>
          </a:xfrm>
          <a:prstGeom prst="line">
            <a:avLst/>
          </a:prstGeom>
          <a:ln>
            <a:solidFill>
              <a:srgbClr val="97AF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6"/>
          <p:cNvSpPr>
            <a:spLocks noGrp="1"/>
          </p:cNvSpPr>
          <p:nvPr>
            <p:ph type="body" idx="12"/>
          </p:nvPr>
        </p:nvSpPr>
        <p:spPr>
          <a:xfrm>
            <a:off x="2832426" y="3867894"/>
            <a:ext cx="3615368" cy="369704"/>
          </a:xfrm>
        </p:spPr>
        <p:txBody>
          <a:bodyPr/>
          <a:lstStyle/>
          <a:p>
            <a:r>
              <a:rPr lang="en-US" altLang="ko-KR" sz="1600" dirty="0"/>
              <a:t>E3 Associate Architect </a:t>
            </a:r>
            <a:r>
              <a:rPr lang="ko-KR" altLang="en-US" sz="1600" dirty="0"/>
              <a:t>과정</a:t>
            </a:r>
          </a:p>
        </p:txBody>
      </p:sp>
      <p:sp>
        <p:nvSpPr>
          <p:cNvPr id="12" name="텍스트 개체 틀 2"/>
          <p:cNvSpPr>
            <a:spLocks noGrp="1"/>
          </p:cNvSpPr>
          <p:nvPr>
            <p:ph type="body" idx="10"/>
          </p:nvPr>
        </p:nvSpPr>
        <p:spPr>
          <a:xfrm>
            <a:off x="1687782" y="4239915"/>
            <a:ext cx="5904656" cy="492075"/>
          </a:xfrm>
        </p:spPr>
        <p:txBody>
          <a:bodyPr>
            <a:normAutofit/>
          </a:bodyPr>
          <a:lstStyle/>
          <a:p>
            <a:r>
              <a:rPr lang="ko-KR" altLang="en-US" dirty="0"/>
              <a:t>김 성 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191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Batch Sequential Styles</a:t>
            </a:r>
            <a:endParaRPr lang="ko-KR" altLang="en-US" dirty="0"/>
          </a:p>
        </p:txBody>
      </p:sp>
      <p:sp>
        <p:nvSpPr>
          <p:cNvPr id="7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The main feature of this architecture is as follows: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</a:t>
            </a:r>
            <a:r>
              <a:rPr lang="en-US" altLang="ko-KR" sz="1600" b="1" dirty="0">
                <a:solidFill>
                  <a:srgbClr val="4156BD"/>
                </a:solidFill>
              </a:rPr>
              <a:t>Separate programs</a:t>
            </a:r>
            <a:r>
              <a:rPr lang="en-US" altLang="ko-KR" sz="1600" dirty="0"/>
              <a:t> are </a:t>
            </a:r>
            <a:r>
              <a:rPr lang="en-US" altLang="ko-KR" sz="1600" b="1" dirty="0">
                <a:solidFill>
                  <a:srgbClr val="4156BD"/>
                </a:solidFill>
              </a:rPr>
              <a:t>executed in order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</a:t>
            </a:r>
            <a:r>
              <a:rPr lang="en-US" altLang="ko-KR" sz="1600" b="1" dirty="0">
                <a:solidFill>
                  <a:srgbClr val="4156BD"/>
                </a:solidFill>
              </a:rPr>
              <a:t>Data is passed as an aggregate </a:t>
            </a:r>
            <a:r>
              <a:rPr lang="en-US" altLang="ko-KR" sz="1600" dirty="0"/>
              <a:t>from one program to the next.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D3CDAD-4C3C-44D4-367C-6667CB91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194742"/>
            <a:ext cx="6272981" cy="2393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45C14D-CD10-6E67-631E-5A7D15B411CF}"/>
              </a:ext>
            </a:extLst>
          </p:cNvPr>
          <p:cNvSpPr txBox="1"/>
          <p:nvPr/>
        </p:nvSpPr>
        <p:spPr>
          <a:xfrm>
            <a:off x="5346044" y="2194742"/>
            <a:ext cx="14858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36096" y="77759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Data Flow Architecture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4499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Batch Sequential Styles</a:t>
            </a:r>
            <a:endParaRPr lang="ko-KR" altLang="en-US" dirty="0"/>
          </a:p>
        </p:txBody>
      </p:sp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4111302"/>
          </a:xfrm>
        </p:spPr>
        <p:txBody>
          <a:bodyPr>
            <a:normAutofit lnSpcReduction="1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Batch sequential style</a:t>
            </a:r>
            <a:r>
              <a:rPr lang="ko-KR" altLang="en-US" sz="1800" dirty="0"/>
              <a:t>은 각각의 독립된 프로그램들이 순차적으로 수행되는 것을 특징으로 한다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구성이 간단하다</a:t>
            </a:r>
            <a:r>
              <a:rPr lang="en-US" altLang="ko-KR" sz="1800" dirty="0"/>
              <a:t>. </a:t>
            </a:r>
            <a:r>
              <a:rPr lang="ko-KR" altLang="en-US" sz="1800" dirty="0"/>
              <a:t>대규모 </a:t>
            </a:r>
            <a:r>
              <a:rPr lang="en-US" altLang="ko-KR" sz="1800" dirty="0"/>
              <a:t>data processing</a:t>
            </a:r>
            <a:r>
              <a:rPr lang="ko-KR" altLang="en-US" sz="1800" dirty="0"/>
              <a:t>을 효율적으로</a:t>
            </a:r>
            <a:r>
              <a:rPr lang="en-US" altLang="ko-KR" sz="1800" dirty="0"/>
              <a:t>, </a:t>
            </a:r>
            <a:r>
              <a:rPr lang="ko-KR" altLang="en-US" sz="1800" dirty="0"/>
              <a:t>각각의 </a:t>
            </a:r>
            <a:r>
              <a:rPr lang="en-US" altLang="ko-KR" sz="1800" dirty="0"/>
              <a:t>processing step</a:t>
            </a:r>
            <a:r>
              <a:rPr lang="ko-KR" altLang="en-US" sz="1800" dirty="0"/>
              <a:t>이 독립적이어서 각 </a:t>
            </a:r>
            <a:r>
              <a:rPr lang="en-US" altLang="ko-KR" sz="1800" dirty="0"/>
              <a:t>step</a:t>
            </a:r>
            <a:r>
              <a:rPr lang="ko-KR" altLang="en-US" sz="1800" dirty="0"/>
              <a:t>의 재사용이 가능함</a:t>
            </a:r>
            <a:r>
              <a:rPr lang="en-US" altLang="ko-KR" sz="1800" dirty="0"/>
              <a:t>, I/O</a:t>
            </a:r>
            <a:r>
              <a:rPr lang="ko-KR" altLang="en-US" sz="1800" dirty="0"/>
              <a:t>가 일치한다면 </a:t>
            </a:r>
            <a:r>
              <a:rPr lang="en-US" altLang="ko-KR" sz="1800" dirty="0"/>
              <a:t>processing step </a:t>
            </a:r>
            <a:r>
              <a:rPr lang="ko-KR" altLang="en-US" sz="1800" dirty="0"/>
              <a:t>교체가 용이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순차적으로 모든 데이터가 각 </a:t>
            </a:r>
            <a:r>
              <a:rPr lang="en-US" altLang="ko-KR" sz="1800" dirty="0"/>
              <a:t>step</a:t>
            </a:r>
            <a:r>
              <a:rPr lang="ko-KR" altLang="en-US" sz="1800" dirty="0"/>
              <a:t>별 동작이 완료된 후 다음 </a:t>
            </a:r>
            <a:r>
              <a:rPr lang="en-US" altLang="ko-KR" sz="1800" dirty="0"/>
              <a:t>step</a:t>
            </a:r>
            <a:r>
              <a:rPr lang="ko-KR" altLang="en-US" sz="1800" dirty="0"/>
              <a:t>이 수행되므로 </a:t>
            </a:r>
            <a:r>
              <a:rPr lang="en-US" altLang="ko-KR" sz="1800" dirty="0"/>
              <a:t>interactive</a:t>
            </a:r>
            <a:r>
              <a:rPr lang="ko-KR" altLang="en-US" sz="1800" dirty="0"/>
              <a:t>한 시스템에는 적합하지 않다</a:t>
            </a:r>
            <a:r>
              <a:rPr lang="en-US" altLang="ko-KR" sz="1800" dirty="0"/>
              <a:t>. </a:t>
            </a:r>
            <a:r>
              <a:rPr lang="ko-KR" altLang="en-US" sz="1800" dirty="0"/>
              <a:t>동시 수행이 어려워 </a:t>
            </a:r>
            <a:r>
              <a:rPr lang="en-US" altLang="ko-KR" sz="1800" dirty="0"/>
              <a:t>latency</a:t>
            </a:r>
            <a:r>
              <a:rPr lang="ko-KR" altLang="en-US" sz="1800" dirty="0"/>
              <a:t>가 늦다</a:t>
            </a:r>
            <a:r>
              <a:rPr lang="en-US" altLang="ko-KR" sz="1800" dirty="0"/>
              <a:t>. </a:t>
            </a:r>
            <a:r>
              <a:rPr lang="ko-KR" altLang="en-US" sz="1800" dirty="0"/>
              <a:t>중간 </a:t>
            </a:r>
            <a:r>
              <a:rPr lang="en-US" altLang="ko-KR" sz="1800" dirty="0"/>
              <a:t>process</a:t>
            </a:r>
            <a:r>
              <a:rPr lang="ko-KR" altLang="en-US" sz="1800" dirty="0"/>
              <a:t>중 하나라도 문제가 생기면 전체 시스템에 문제가 생긴다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31267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Pipe and Filter Style</a:t>
            </a:r>
            <a:endParaRPr lang="ko-KR" altLang="en-US" dirty="0"/>
          </a:p>
        </p:txBody>
      </p:sp>
      <p:sp>
        <p:nvSpPr>
          <p:cNvPr id="9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4111302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Usability</a:t>
            </a:r>
            <a:r>
              <a:rPr lang="ko-KR" altLang="en-US" sz="1800" b="1" dirty="0"/>
              <a:t> </a:t>
            </a:r>
            <a:endParaRPr lang="en-US" altLang="ko-KR" sz="1800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The main feature of this architecture is </a:t>
            </a:r>
            <a:r>
              <a:rPr lang="en-US" altLang="ko-KR" sz="1600" b="1" dirty="0">
                <a:solidFill>
                  <a:srgbClr val="4156BD"/>
                </a:solidFill>
              </a:rPr>
              <a:t>its concurrent and incremented execution.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A loop is allowed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400" b="1" dirty="0">
              <a:solidFill>
                <a:srgbClr val="4156BD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8140" y="2373035"/>
            <a:ext cx="7750283" cy="1350843"/>
            <a:chOff x="1104365" y="3666085"/>
            <a:chExt cx="9368765" cy="1632938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259825" y="3670988"/>
              <a:ext cx="838200" cy="533400"/>
            </a:xfrm>
            <a:prstGeom prst="rect">
              <a:avLst/>
            </a:prstGeom>
            <a:solidFill>
              <a:srgbClr val="5974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>
                  <a:solidFill>
                    <a:schemeClr val="bg1"/>
                  </a:solidFill>
                </a:rPr>
                <a:t>Filter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376487" y="3670988"/>
              <a:ext cx="838200" cy="533400"/>
            </a:xfrm>
            <a:prstGeom prst="rect">
              <a:avLst/>
            </a:prstGeom>
            <a:solidFill>
              <a:srgbClr val="5974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</a:rPr>
                <a:t>Filter</a:t>
              </a: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4035678" y="3752825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5315874" y="3744562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 bwMode="auto">
            <a:xfrm>
              <a:off x="6162734" y="3774597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14" name="직선 연결선 6"/>
            <p:cNvCxnSpPr>
              <a:stCxn id="30" idx="3"/>
            </p:cNvCxnSpPr>
            <p:nvPr/>
          </p:nvCxnSpPr>
          <p:spPr bwMode="auto">
            <a:xfrm>
              <a:off x="4156906" y="3820763"/>
              <a:ext cx="215359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직선 연결선 8"/>
            <p:cNvCxnSpPr>
              <a:endCxn id="33" idx="1"/>
            </p:cNvCxnSpPr>
            <p:nvPr/>
          </p:nvCxnSpPr>
          <p:spPr bwMode="auto">
            <a:xfrm flipV="1">
              <a:off x="5099206" y="3812500"/>
              <a:ext cx="216668" cy="8263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순서도: 수행의 시작/종료 9"/>
            <p:cNvSpPr/>
            <p:nvPr/>
          </p:nvSpPr>
          <p:spPr bwMode="auto">
            <a:xfrm>
              <a:off x="4372265" y="3670252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7493149" y="3670988"/>
              <a:ext cx="838200" cy="533400"/>
            </a:xfrm>
            <a:prstGeom prst="rect">
              <a:avLst/>
            </a:prstGeom>
            <a:solidFill>
              <a:srgbClr val="5974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</a:rPr>
                <a:t>Filter</a:t>
              </a:r>
            </a:p>
          </p:txBody>
        </p:sp>
        <p:sp>
          <p:nvSpPr>
            <p:cNvPr id="18" name="직사각형 17"/>
            <p:cNvSpPr/>
            <p:nvPr/>
          </p:nvSpPr>
          <p:spPr bwMode="auto">
            <a:xfrm>
              <a:off x="7441196" y="3776847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8279396" y="3839913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20" name="직선 연결선 6"/>
            <p:cNvCxnSpPr>
              <a:stCxn id="35" idx="3"/>
            </p:cNvCxnSpPr>
            <p:nvPr/>
          </p:nvCxnSpPr>
          <p:spPr bwMode="auto">
            <a:xfrm>
              <a:off x="6283962" y="3842535"/>
              <a:ext cx="20496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직선 연결선 8"/>
            <p:cNvCxnSpPr/>
            <p:nvPr/>
          </p:nvCxnSpPr>
          <p:spPr bwMode="auto">
            <a:xfrm>
              <a:off x="7215868" y="3842535"/>
              <a:ext cx="225328" cy="225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순서도: 수행의 시작/종료 9"/>
            <p:cNvSpPr/>
            <p:nvPr/>
          </p:nvSpPr>
          <p:spPr bwMode="auto">
            <a:xfrm>
              <a:off x="6488927" y="3692024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5376487" y="4386569"/>
              <a:ext cx="838200" cy="533400"/>
            </a:xfrm>
            <a:prstGeom prst="rect">
              <a:avLst/>
            </a:prstGeom>
            <a:solidFill>
              <a:srgbClr val="5974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</a:rPr>
                <a:t>Filter</a:t>
              </a:r>
            </a:p>
          </p:txBody>
        </p:sp>
        <p:sp>
          <p:nvSpPr>
            <p:cNvPr id="24" name="직사각형 23"/>
            <p:cNvSpPr/>
            <p:nvPr/>
          </p:nvSpPr>
          <p:spPr bwMode="auto">
            <a:xfrm>
              <a:off x="5315874" y="4449455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6162734" y="4555494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26" name="직선 연결선 8"/>
            <p:cNvCxnSpPr/>
            <p:nvPr/>
          </p:nvCxnSpPr>
          <p:spPr bwMode="auto">
            <a:xfrm>
              <a:off x="5090823" y="4517393"/>
              <a:ext cx="225051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순서도: 수행의 시작/종료 9"/>
            <p:cNvSpPr/>
            <p:nvPr/>
          </p:nvSpPr>
          <p:spPr bwMode="auto">
            <a:xfrm>
              <a:off x="4363882" y="4366882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cxnSp>
          <p:nvCxnSpPr>
            <p:cNvPr id="28" name="직선 연결선 6"/>
            <p:cNvCxnSpPr/>
            <p:nvPr/>
          </p:nvCxnSpPr>
          <p:spPr bwMode="auto">
            <a:xfrm>
              <a:off x="6273568" y="4623432"/>
              <a:ext cx="216013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순서도: 수행의 시작/종료 9"/>
            <p:cNvSpPr/>
            <p:nvPr/>
          </p:nvSpPr>
          <p:spPr bwMode="auto">
            <a:xfrm>
              <a:off x="6488927" y="4472921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4045870" y="4010965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 bwMode="auto">
            <a:xfrm>
              <a:off x="7432535" y="3995296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32" name="꺾인 연결선[E] 291"/>
            <p:cNvCxnSpPr/>
            <p:nvPr/>
          </p:nvCxnSpPr>
          <p:spPr bwMode="auto">
            <a:xfrm>
              <a:off x="4167098" y="4078903"/>
              <a:ext cx="196784" cy="438490"/>
            </a:xfrm>
            <a:prstGeom prst="bentConnector3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꺾인 연결선[E] 292"/>
            <p:cNvCxnSpPr/>
            <p:nvPr/>
          </p:nvCxnSpPr>
          <p:spPr bwMode="auto">
            <a:xfrm flipV="1">
              <a:off x="7215868" y="4063234"/>
              <a:ext cx="216667" cy="560198"/>
            </a:xfrm>
            <a:prstGeom prst="bentConnector3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순서도: 수행의 시작/종료 9"/>
            <p:cNvSpPr/>
            <p:nvPr/>
          </p:nvSpPr>
          <p:spPr bwMode="auto">
            <a:xfrm>
              <a:off x="6488927" y="4998002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sp>
          <p:nvSpPr>
            <p:cNvPr id="35" name="직사각형 34"/>
            <p:cNvSpPr/>
            <p:nvPr/>
          </p:nvSpPr>
          <p:spPr bwMode="auto">
            <a:xfrm>
              <a:off x="5307212" y="4706004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 bwMode="auto">
            <a:xfrm>
              <a:off x="8269508" y="4030412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37" name="꺾인 연결선[E] 296"/>
            <p:cNvCxnSpPr/>
            <p:nvPr/>
          </p:nvCxnSpPr>
          <p:spPr bwMode="auto">
            <a:xfrm flipH="1">
              <a:off x="7215868" y="4098350"/>
              <a:ext cx="1174868" cy="1050163"/>
            </a:xfrm>
            <a:prstGeom prst="bentConnector3">
              <a:avLst>
                <a:gd name="adj1" fmla="val -19458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꺾인 연결선[E] 297"/>
            <p:cNvCxnSpPr/>
            <p:nvPr/>
          </p:nvCxnSpPr>
          <p:spPr bwMode="auto">
            <a:xfrm rot="10800000">
              <a:off x="5307213" y="4773943"/>
              <a:ext cx="1181715" cy="374571"/>
            </a:xfrm>
            <a:prstGeom prst="bentConnector3">
              <a:avLst>
                <a:gd name="adj1" fmla="val 119345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ctangle 6"/>
            <p:cNvSpPr>
              <a:spLocks noChangeArrowheads="1"/>
            </p:cNvSpPr>
            <p:nvPr/>
          </p:nvSpPr>
          <p:spPr bwMode="auto">
            <a:xfrm>
              <a:off x="1104365" y="3674347"/>
              <a:ext cx="838200" cy="533400"/>
            </a:xfrm>
            <a:prstGeom prst="rect">
              <a:avLst/>
            </a:prstGeom>
            <a:solidFill>
              <a:srgbClr val="4156B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solidFill>
                    <a:schemeClr val="bg1"/>
                  </a:solidFill>
                </a:rPr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solidFill>
                    <a:schemeClr val="bg1"/>
                  </a:solidFill>
                </a:rPr>
                <a:t>Source</a:t>
              </a:r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9634930" y="3666085"/>
              <a:ext cx="838200" cy="533400"/>
            </a:xfrm>
            <a:prstGeom prst="rect">
              <a:avLst/>
            </a:prstGeom>
            <a:solidFill>
              <a:srgbClr val="B2CCE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/>
                <a:t>Data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dirty="0"/>
                <a:t>Sink</a:t>
              </a:r>
            </a:p>
          </p:txBody>
        </p:sp>
        <p:sp>
          <p:nvSpPr>
            <p:cNvPr id="41" name="직사각형 40"/>
            <p:cNvSpPr/>
            <p:nvPr/>
          </p:nvSpPr>
          <p:spPr bwMode="auto">
            <a:xfrm>
              <a:off x="1883259" y="3873110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 bwMode="auto">
            <a:xfrm>
              <a:off x="3163455" y="3864847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43" name="직선 연결선 6"/>
            <p:cNvCxnSpPr/>
            <p:nvPr/>
          </p:nvCxnSpPr>
          <p:spPr bwMode="auto">
            <a:xfrm>
              <a:off x="2004487" y="3941048"/>
              <a:ext cx="215359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직선 연결선 8"/>
            <p:cNvCxnSpPr/>
            <p:nvPr/>
          </p:nvCxnSpPr>
          <p:spPr bwMode="auto">
            <a:xfrm flipV="1">
              <a:off x="2946787" y="3932785"/>
              <a:ext cx="216668" cy="8263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순서도: 수행의 시작/종료 9"/>
            <p:cNvSpPr/>
            <p:nvPr/>
          </p:nvSpPr>
          <p:spPr bwMode="auto">
            <a:xfrm>
              <a:off x="2219846" y="3790537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  <p:sp>
          <p:nvSpPr>
            <p:cNvPr id="46" name="직사각형 45"/>
            <p:cNvSpPr/>
            <p:nvPr/>
          </p:nvSpPr>
          <p:spPr bwMode="auto">
            <a:xfrm>
              <a:off x="9563278" y="3834272"/>
              <a:ext cx="121228" cy="1358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47" name="직선 연결선 6"/>
            <p:cNvCxnSpPr/>
            <p:nvPr/>
          </p:nvCxnSpPr>
          <p:spPr bwMode="auto">
            <a:xfrm>
              <a:off x="8404310" y="3910473"/>
              <a:ext cx="215359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직선 연결선 8"/>
            <p:cNvCxnSpPr/>
            <p:nvPr/>
          </p:nvCxnSpPr>
          <p:spPr bwMode="auto">
            <a:xfrm flipV="1">
              <a:off x="9346610" y="3902210"/>
              <a:ext cx="216668" cy="8263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순서도: 수행의 시작/종료 9"/>
            <p:cNvSpPr/>
            <p:nvPr/>
          </p:nvSpPr>
          <p:spPr bwMode="auto">
            <a:xfrm>
              <a:off x="8619669" y="3759962"/>
              <a:ext cx="726941" cy="301021"/>
            </a:xfrm>
            <a:prstGeom prst="flowChartTerminator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>
                  <a:latin typeface="Arial" charset="0"/>
                  <a:ea typeface="굴림" pitchFamily="50" charset="-127"/>
                </a:rPr>
                <a:t>pipe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465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19"/>
            <a:ext cx="8568952" cy="4157021"/>
          </a:xfrm>
        </p:spPr>
        <p:txBody>
          <a:bodyPr>
            <a:normAutofit lnSpcReduction="1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Pipe and filters </a:t>
            </a:r>
            <a:r>
              <a:rPr lang="ko-KR" altLang="en-US" sz="1800" dirty="0"/>
              <a:t>구조는 병렬로 동작할 수 있다는 것이고 주어진 </a:t>
            </a:r>
            <a:r>
              <a:rPr lang="en-US" altLang="ko-KR" sz="1800" dirty="0"/>
              <a:t>pipe</a:t>
            </a:r>
            <a:r>
              <a:rPr lang="ko-KR" altLang="en-US" sz="1800" dirty="0"/>
              <a:t>에 </a:t>
            </a:r>
            <a:r>
              <a:rPr lang="en-US" altLang="ko-KR" sz="1800" dirty="0"/>
              <a:t>input</a:t>
            </a:r>
            <a:r>
              <a:rPr lang="ko-KR" altLang="en-US" sz="1800" dirty="0"/>
              <a:t>만 주어지면 다음 </a:t>
            </a:r>
            <a:r>
              <a:rPr lang="en-US" altLang="ko-KR" sz="1800" dirty="0"/>
              <a:t>step</a:t>
            </a:r>
            <a:r>
              <a:rPr lang="ko-KR" altLang="en-US" sz="1800" dirty="0"/>
              <a:t>의 </a:t>
            </a:r>
            <a:r>
              <a:rPr lang="en-US" altLang="ko-KR" sz="1800" dirty="0"/>
              <a:t>filter</a:t>
            </a:r>
            <a:r>
              <a:rPr lang="ko-KR" altLang="en-US" sz="1800" dirty="0"/>
              <a:t>가 수행될 수 있다</a:t>
            </a:r>
            <a:r>
              <a:rPr lang="en-US" altLang="ko-KR" sz="1800" dirty="0"/>
              <a:t>. Linear </a:t>
            </a:r>
            <a:r>
              <a:rPr lang="ko-KR" altLang="en-US" sz="1800" dirty="0"/>
              <a:t>가 아니고 </a:t>
            </a:r>
            <a:r>
              <a:rPr lang="en-US" altLang="ko-KR" sz="1800" dirty="0"/>
              <a:t>loop</a:t>
            </a:r>
            <a:r>
              <a:rPr lang="ko-KR" altLang="en-US" sz="1800" dirty="0"/>
              <a:t>도 허용된다</a:t>
            </a:r>
            <a:r>
              <a:rPr lang="en-US" altLang="ko-KR" sz="1800" dirty="0"/>
              <a:t>. 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구조가 간단하고</a:t>
            </a:r>
            <a:r>
              <a:rPr lang="en-US" altLang="ko-KR" sz="1800" dirty="0"/>
              <a:t>, filter</a:t>
            </a:r>
            <a:r>
              <a:rPr lang="ko-KR" altLang="en-US" sz="1800" dirty="0"/>
              <a:t>의 재사용이 용이하다</a:t>
            </a:r>
            <a:r>
              <a:rPr lang="en-US" altLang="ko-KR" sz="1800" dirty="0"/>
              <a:t>. System</a:t>
            </a:r>
            <a:r>
              <a:rPr lang="ko-KR" altLang="en-US" sz="1800" dirty="0"/>
              <a:t>의 유지보수가 쉽다</a:t>
            </a:r>
            <a:r>
              <a:rPr lang="en-US" altLang="ko-KR" sz="1800" dirty="0"/>
              <a:t>. (port</a:t>
            </a:r>
            <a:r>
              <a:rPr lang="ko-KR" altLang="en-US" sz="1800" dirty="0"/>
              <a:t>만 우회하면 됨</a:t>
            </a:r>
            <a:r>
              <a:rPr lang="en-US" altLang="ko-KR" sz="1800" dirty="0"/>
              <a:t>). </a:t>
            </a:r>
            <a:r>
              <a:rPr lang="ko-KR" altLang="en-US" sz="1800" dirty="0"/>
              <a:t>병렬처리가 가능하여 성능향상이 됨</a:t>
            </a:r>
            <a:endParaRPr lang="en-US" altLang="ko-KR" sz="1800" dirty="0"/>
          </a:p>
          <a:p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Interactive</a:t>
            </a:r>
            <a:r>
              <a:rPr lang="ko-KR" altLang="en-US" sz="1800" dirty="0"/>
              <a:t>한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에는 적합하지 않음</a:t>
            </a:r>
            <a:r>
              <a:rPr lang="en-US" altLang="ko-KR" sz="1800" dirty="0"/>
              <a:t>. Filter</a:t>
            </a:r>
            <a:r>
              <a:rPr lang="ko-KR" altLang="en-US" sz="1800" dirty="0"/>
              <a:t>들의 개수가 늘어나면 </a:t>
            </a:r>
            <a:r>
              <a:rPr lang="en-US" altLang="ko-KR" sz="1800" dirty="0"/>
              <a:t>overhead</a:t>
            </a:r>
            <a:r>
              <a:rPr lang="ko-KR" altLang="en-US" sz="1800" dirty="0"/>
              <a:t>가 늘어날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특정한 </a:t>
            </a:r>
            <a:r>
              <a:rPr lang="en-US" altLang="ko-KR" sz="1800" dirty="0"/>
              <a:t>filter</a:t>
            </a:r>
            <a:r>
              <a:rPr lang="ko-KR" altLang="en-US" sz="1800" dirty="0"/>
              <a:t>가 수행시간이 오래 걸리면 적합하지 않다</a:t>
            </a:r>
            <a:r>
              <a:rPr lang="en-US" altLang="ko-KR" sz="1800" dirty="0"/>
              <a:t>. </a:t>
            </a:r>
            <a:r>
              <a:rPr lang="ko-KR" altLang="en-US" sz="1800" dirty="0"/>
              <a:t>특정한 </a:t>
            </a:r>
            <a:r>
              <a:rPr lang="en-US" altLang="ko-KR" sz="1800" dirty="0"/>
              <a:t>filter</a:t>
            </a:r>
            <a:r>
              <a:rPr lang="ko-KR" altLang="en-US" sz="1800" dirty="0"/>
              <a:t>가 문제 발생하면 이후 </a:t>
            </a:r>
            <a:r>
              <a:rPr lang="en-US" altLang="ko-KR" sz="1800" dirty="0"/>
              <a:t>filter</a:t>
            </a:r>
            <a:r>
              <a:rPr lang="ko-KR" altLang="en-US" sz="1800" dirty="0"/>
              <a:t>의 동작에 문제가 생긴다</a:t>
            </a:r>
            <a:r>
              <a:rPr lang="en-US" altLang="ko-KR" sz="1800" dirty="0"/>
              <a:t>. </a:t>
            </a: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5E42C80D-BFF4-6A46-1078-D8F847A2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>
            <a:normAutofit/>
          </a:bodyPr>
          <a:lstStyle/>
          <a:p>
            <a:r>
              <a:rPr lang="en-US" altLang="ko-KR" dirty="0"/>
              <a:t>Pipe and Filter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690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tivation and Terminology of Automatic Process Control – Control Gur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851670"/>
            <a:ext cx="4101359" cy="289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Process Control Architecture is a type of Data Flow Architecture, where the flow of data comes from </a:t>
            </a:r>
            <a:r>
              <a:rPr lang="en-US" altLang="ko-KR" b="1" dirty="0">
                <a:solidFill>
                  <a:srgbClr val="FF0000"/>
                </a:solidFill>
              </a:rPr>
              <a:t>a set of variables</a:t>
            </a:r>
            <a:r>
              <a:rPr lang="en-US" altLang="ko-KR" dirty="0"/>
              <a:t> which controls the execution of process </a:t>
            </a:r>
            <a:r>
              <a:rPr lang="en-US" altLang="ko-KR" b="1" dirty="0">
                <a:solidFill>
                  <a:srgbClr val="4156BD"/>
                </a:solidFill>
              </a:rPr>
              <a:t>to maintain desired process outcomes.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Control Style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67944" y="77759"/>
            <a:ext cx="44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Data Flow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7641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436096" y="77759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Data Flow Architecture</a:t>
            </a:r>
            <a:endParaRPr kumimoji="1" lang="ko-KR" altLang="en-US" sz="1400" b="1" dirty="0"/>
          </a:p>
        </p:txBody>
      </p:sp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3751262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Process control style</a:t>
            </a:r>
            <a:r>
              <a:rPr lang="ko-KR" altLang="en-US" sz="1800" dirty="0"/>
              <a:t>은 요구되는 </a:t>
            </a:r>
            <a:r>
              <a:rPr lang="en-US" altLang="ko-KR" sz="1800" dirty="0"/>
              <a:t>process</a:t>
            </a:r>
            <a:r>
              <a:rPr lang="ko-KR" altLang="en-US" sz="1800" dirty="0"/>
              <a:t>의 출력 값을 유지하기 위해 </a:t>
            </a:r>
            <a:r>
              <a:rPr lang="en-US" altLang="ko-KR" sz="1800" dirty="0"/>
              <a:t>process</a:t>
            </a:r>
            <a:r>
              <a:rPr lang="ko-KR" altLang="en-US" sz="1800" dirty="0"/>
              <a:t>를 제어하는 변수들 간의 데이터 흐름을 나타내는 </a:t>
            </a:r>
            <a:r>
              <a:rPr lang="en-US" altLang="ko-KR" sz="1800" dirty="0"/>
              <a:t>data flow architecture. System</a:t>
            </a:r>
            <a:r>
              <a:rPr lang="ko-KR" altLang="en-US" sz="1800" dirty="0"/>
              <a:t>의 출력 값을 일정하게 유지하도록 제어 변수를 조정 </a:t>
            </a:r>
            <a:r>
              <a:rPr lang="en-US" altLang="ko-KR" sz="1800" dirty="0"/>
              <a:t>(</a:t>
            </a:r>
            <a:r>
              <a:rPr lang="ko-KR" altLang="en-US" sz="1800" dirty="0"/>
              <a:t>순환루프를 통해 피드백을 갖고 있는 것이 </a:t>
            </a:r>
            <a:r>
              <a:rPr lang="en-US" altLang="ko-KR" sz="1800" dirty="0"/>
              <a:t>process control style</a:t>
            </a:r>
            <a:r>
              <a:rPr lang="ko-KR" altLang="en-US" sz="1800" dirty="0"/>
              <a:t>의 특징</a:t>
            </a:r>
            <a:r>
              <a:rPr lang="en-US" altLang="ko-KR" sz="1800" dirty="0"/>
              <a:t>)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Sensor</a:t>
            </a:r>
            <a:r>
              <a:rPr lang="ko-KR" altLang="en-US" sz="1800" dirty="0"/>
              <a:t>의 피드백을 기반으로 </a:t>
            </a:r>
            <a:r>
              <a:rPr lang="en-US" altLang="ko-KR" sz="1800" dirty="0"/>
              <a:t>system</a:t>
            </a:r>
            <a:r>
              <a:rPr lang="ko-KR" altLang="en-US" sz="1800" dirty="0"/>
              <a:t>은 최적의 컨디션을 유지할 수 있다</a:t>
            </a:r>
            <a:r>
              <a:rPr lang="en-US" altLang="ko-KR" sz="1800" dirty="0"/>
              <a:t>. Process </a:t>
            </a:r>
            <a:r>
              <a:rPr lang="ko-KR" altLang="en-US" sz="1800" dirty="0"/>
              <a:t>출력 값을 일정하게 유지하여 신뢰성을 유지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연결이 복합하게 이루어져서 디자인이 복잡하다</a:t>
            </a:r>
            <a:r>
              <a:rPr lang="en-US" altLang="ko-KR" sz="1800" dirty="0"/>
              <a:t>.  Processing unit</a:t>
            </a:r>
            <a:r>
              <a:rPr lang="ko-KR" altLang="en-US" sz="1800" dirty="0"/>
              <a:t>이나 </a:t>
            </a:r>
            <a:r>
              <a:rPr lang="en-US" altLang="ko-KR" sz="1800" dirty="0"/>
              <a:t>control unit</a:t>
            </a:r>
            <a:r>
              <a:rPr lang="ko-KR" altLang="en-US" sz="1800" dirty="0"/>
              <a:t>에 문제가 있을 경우 전체 시스템에 문제가 된다</a:t>
            </a:r>
            <a:r>
              <a:rPr lang="en-US" altLang="ko-KR" sz="1800" dirty="0"/>
              <a:t>.</a:t>
            </a: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E3E0F09A-4F6C-22CD-F6CA-B5512CD2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Process Control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94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Repository Style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4320479" cy="3751262"/>
          </a:xfrm>
        </p:spPr>
        <p:txBody>
          <a:bodyPr>
            <a:normAutofit lnSpcReduction="10000"/>
          </a:bodyPr>
          <a:lstStyle/>
          <a:p>
            <a:r>
              <a:rPr lang="en-US" altLang="ko-KR" sz="1800" b="1" dirty="0"/>
              <a:t>Elements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Components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 memory (data store)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Many computational processes (data client)</a:t>
            </a:r>
          </a:p>
          <a:p>
            <a:pPr marL="91463" lvl="1" indent="0">
              <a:lnSpc>
                <a:spcPct val="40000"/>
              </a:lnSpc>
              <a:buNone/>
            </a:pPr>
            <a:r>
              <a:rPr lang="en-US" altLang="ko-KR" sz="1400" dirty="0"/>
              <a:t>       (independent software components or agents)</a:t>
            </a:r>
          </a:p>
          <a:p>
            <a:pPr marL="91463" lvl="1" indent="0">
              <a:lnSpc>
                <a:spcPct val="100000"/>
              </a:lnSpc>
              <a:buNone/>
            </a:pPr>
            <a:r>
              <a:rPr lang="en-US" altLang="ko-KR" sz="1600" dirty="0"/>
              <a:t> - Connectors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Interaction between computational units and memory </a:t>
            </a:r>
          </a:p>
          <a:p>
            <a:pPr marL="91463" lvl="1" indent="0">
              <a:lnSpc>
                <a:spcPct val="40000"/>
              </a:lnSpc>
              <a:buNone/>
            </a:pPr>
            <a:r>
              <a:rPr lang="en-US" altLang="ko-KR" sz="1400" dirty="0"/>
              <a:t>        by directly data access or procedure calls</a:t>
            </a:r>
          </a:p>
          <a:p>
            <a:r>
              <a:rPr lang="en-US" altLang="ko-KR" sz="1800" b="1" dirty="0"/>
              <a:t>Relations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See the figure on the right</a:t>
            </a:r>
          </a:p>
          <a:p>
            <a:r>
              <a:rPr lang="en-US" altLang="ko-KR" sz="1800" b="1" dirty="0"/>
              <a:t>Constraints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Memory (data store) is passively activated</a:t>
            </a:r>
            <a:br>
              <a:rPr lang="en-US" altLang="ko-KR" sz="1600" dirty="0"/>
            </a:br>
            <a:endParaRPr lang="en-US" altLang="ko-KR" sz="16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5022034" y="1275606"/>
            <a:ext cx="3366390" cy="3239143"/>
            <a:chOff x="7404342" y="2711921"/>
            <a:chExt cx="4040672" cy="3887936"/>
          </a:xfrm>
        </p:grpSpPr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7404342" y="2724927"/>
              <a:ext cx="1544179" cy="6233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Computational</a:t>
              </a:r>
            </a:p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Process</a:t>
              </a:r>
            </a:p>
          </p:txBody>
        </p:sp>
        <p:cxnSp>
          <p:nvCxnSpPr>
            <p:cNvPr id="19" name="AutoShape 26"/>
            <p:cNvCxnSpPr>
              <a:cxnSpLocks noChangeShapeType="1"/>
              <a:stCxn id="18" idx="2"/>
              <a:endCxn id="25" idx="1"/>
            </p:cNvCxnSpPr>
            <p:nvPr/>
          </p:nvCxnSpPr>
          <p:spPr bwMode="auto">
            <a:xfrm>
              <a:off x="8176431" y="3348286"/>
              <a:ext cx="708345" cy="6946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9191625" y="6459033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ko-KR" altLang="en-US" sz="1400"/>
            </a:p>
          </p:txBody>
        </p:sp>
        <p:sp>
          <p:nvSpPr>
            <p:cNvPr id="21" name="Text Box 31"/>
            <p:cNvSpPr txBox="1">
              <a:spLocks noChangeArrowheads="1"/>
            </p:cNvSpPr>
            <p:nvPr/>
          </p:nvSpPr>
          <p:spPr bwMode="auto">
            <a:xfrm>
              <a:off x="9633632" y="6230433"/>
              <a:ext cx="1476156" cy="369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0" dirty="0">
                  <a:latin typeface="굴림" panose="020B0600000101010101" pitchFamily="50" charset="-127"/>
                </a:rPr>
                <a:t>Data access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D60F7F7D-5770-AD1F-F2B5-DA8BB236C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3596" y="2711921"/>
              <a:ext cx="1544179" cy="6233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Computational</a:t>
              </a:r>
            </a:p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Process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80DFF56B-9669-574D-A0A2-0024A4F67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4888" y="5228302"/>
              <a:ext cx="1544179" cy="6233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Computational</a:t>
              </a:r>
            </a:p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Process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87E9EA12-A979-9F7C-A78A-C43B8AA54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0835" y="5228302"/>
              <a:ext cx="1544179" cy="6233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Computational</a:t>
              </a:r>
            </a:p>
            <a:p>
              <a:pPr algn="ctr"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Process</a:t>
              </a: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F8DCDD03-3837-B67F-692E-36D59EC2227F}"/>
                </a:ext>
              </a:extLst>
            </p:cNvPr>
            <p:cNvSpPr/>
            <p:nvPr/>
          </p:nvSpPr>
          <p:spPr bwMode="auto">
            <a:xfrm>
              <a:off x="8662987" y="3913379"/>
              <a:ext cx="1514475" cy="884904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x-none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Memory</a:t>
              </a:r>
              <a:endParaRPr kumimoji="1" lang="x-none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26" name="AutoShape 26">
              <a:extLst>
                <a:ext uri="{FF2B5EF4-FFF2-40B4-BE49-F238E27FC236}">
                  <a16:creationId xmlns:a16="http://schemas.microsoft.com/office/drawing/2014/main" id="{2BF12E66-C295-29CD-E939-D6DC6006C61E}"/>
                </a:ext>
              </a:extLst>
            </p:cNvPr>
            <p:cNvCxnSpPr>
              <a:cxnSpLocks noChangeShapeType="1"/>
              <a:stCxn id="22" idx="2"/>
              <a:endCxn id="25" idx="7"/>
            </p:cNvCxnSpPr>
            <p:nvPr/>
          </p:nvCxnSpPr>
          <p:spPr bwMode="auto">
            <a:xfrm flipH="1">
              <a:off x="9955672" y="3335280"/>
              <a:ext cx="700014" cy="70769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26">
              <a:extLst>
                <a:ext uri="{FF2B5EF4-FFF2-40B4-BE49-F238E27FC236}">
                  <a16:creationId xmlns:a16="http://schemas.microsoft.com/office/drawing/2014/main" id="{6E8AC213-6A15-09D4-B2C5-7BA4A2958B03}"/>
                </a:ext>
              </a:extLst>
            </p:cNvPr>
            <p:cNvCxnSpPr>
              <a:cxnSpLocks noChangeShapeType="1"/>
              <a:stCxn id="24" idx="0"/>
              <a:endCxn id="25" idx="5"/>
            </p:cNvCxnSpPr>
            <p:nvPr/>
          </p:nvCxnSpPr>
          <p:spPr bwMode="auto">
            <a:xfrm flipH="1" flipV="1">
              <a:off x="9955672" y="4668692"/>
              <a:ext cx="717253" cy="5596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26">
              <a:extLst>
                <a:ext uri="{FF2B5EF4-FFF2-40B4-BE49-F238E27FC236}">
                  <a16:creationId xmlns:a16="http://schemas.microsoft.com/office/drawing/2014/main" id="{69ED63CE-52BE-9D95-53A5-68AB64624274}"/>
                </a:ext>
              </a:extLst>
            </p:cNvPr>
            <p:cNvCxnSpPr>
              <a:cxnSpLocks noChangeShapeType="1"/>
              <a:stCxn id="23" idx="0"/>
              <a:endCxn id="25" idx="3"/>
            </p:cNvCxnSpPr>
            <p:nvPr/>
          </p:nvCxnSpPr>
          <p:spPr bwMode="auto">
            <a:xfrm flipV="1">
              <a:off x="8206978" y="4668692"/>
              <a:ext cx="677799" cy="55961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0960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19"/>
            <a:ext cx="8568952" cy="4157021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Data store</a:t>
            </a:r>
            <a:r>
              <a:rPr lang="ko-KR" altLang="en-US" sz="1800" dirty="0"/>
              <a:t>는 </a:t>
            </a:r>
            <a:r>
              <a:rPr lang="en-US" altLang="ko-KR" sz="1800" dirty="0"/>
              <a:t>passive </a:t>
            </a:r>
            <a:r>
              <a:rPr lang="ko-KR" altLang="en-US" sz="1800" dirty="0"/>
              <a:t>하고 </a:t>
            </a:r>
            <a:r>
              <a:rPr lang="en-US" altLang="ko-KR" sz="1800" dirty="0"/>
              <a:t>Data client</a:t>
            </a:r>
            <a:r>
              <a:rPr lang="ko-KR" altLang="en-US" sz="1800" dirty="0"/>
              <a:t>는 </a:t>
            </a:r>
            <a:r>
              <a:rPr lang="en-US" altLang="ko-KR" sz="1800" dirty="0"/>
              <a:t>Active.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새로운 </a:t>
            </a:r>
            <a:r>
              <a:rPr lang="en-US" altLang="ko-KR" sz="1800" dirty="0"/>
              <a:t>data client / store</a:t>
            </a:r>
            <a:r>
              <a:rPr lang="ko-KR" altLang="en-US" sz="1800" dirty="0"/>
              <a:t>를 추가하기가 용이함</a:t>
            </a:r>
            <a:r>
              <a:rPr lang="en-US" altLang="ko-KR" sz="1800" dirty="0"/>
              <a:t>.  -&gt; scalability. 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특정한 </a:t>
            </a:r>
            <a:r>
              <a:rPr lang="en-US" altLang="ko-KR" sz="1800" dirty="0"/>
              <a:t>client</a:t>
            </a:r>
            <a:r>
              <a:rPr lang="ko-KR" altLang="en-US" sz="1800" dirty="0"/>
              <a:t>의 기능 변경이 다른 </a:t>
            </a:r>
            <a:r>
              <a:rPr lang="en-US" altLang="ko-KR" sz="1800" dirty="0"/>
              <a:t>data client</a:t>
            </a:r>
            <a:r>
              <a:rPr lang="ko-KR" altLang="en-US" sz="1800" dirty="0"/>
              <a:t>에 직접적인 영향을 주지 않는다</a:t>
            </a:r>
            <a:r>
              <a:rPr lang="en-US" altLang="ko-KR" sz="1800" dirty="0"/>
              <a:t>. (Modifiability) </a:t>
            </a:r>
          </a:p>
          <a:p>
            <a:pPr marL="91463" indent="0">
              <a:buNone/>
            </a:pPr>
            <a:r>
              <a:rPr lang="en-US" altLang="ko-KR" sz="1800" dirty="0"/>
              <a:t>    Data client</a:t>
            </a:r>
            <a:r>
              <a:rPr lang="ko-KR" altLang="en-US" sz="1800" dirty="0"/>
              <a:t>의 재사용이 용이하다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 Data </a:t>
            </a:r>
            <a:r>
              <a:rPr lang="ko-KR" altLang="en-US" sz="1800" dirty="0"/>
              <a:t>이동에 대한 </a:t>
            </a:r>
            <a:r>
              <a:rPr lang="en-US" altLang="ko-KR" sz="1800" dirty="0"/>
              <a:t>overhead</a:t>
            </a:r>
            <a:r>
              <a:rPr lang="ko-KR" altLang="en-US" sz="1800" dirty="0"/>
              <a:t>를 줄일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Data store</a:t>
            </a:r>
            <a:r>
              <a:rPr lang="ko-KR" altLang="en-US" sz="1800" dirty="0"/>
              <a:t>의 자료 구조에 변경이 발생하면 유지보수가 어려워진다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Data store</a:t>
            </a:r>
            <a:r>
              <a:rPr lang="ko-KR" altLang="en-US" sz="1800" dirty="0"/>
              <a:t>의 공격을 받으면 가용성 및 보안성이 떨어진다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Network</a:t>
            </a:r>
            <a:r>
              <a:rPr lang="ko-KR" altLang="en-US" sz="1800" dirty="0"/>
              <a:t>상에 </a:t>
            </a:r>
            <a:r>
              <a:rPr lang="en-US" altLang="ko-KR" sz="1800" dirty="0"/>
              <a:t>data store</a:t>
            </a:r>
            <a:r>
              <a:rPr lang="ko-KR" altLang="en-US" sz="1800" dirty="0"/>
              <a:t>가 놓이면 전송 비용이 늘어난다</a:t>
            </a:r>
            <a:r>
              <a:rPr lang="en-US" altLang="ko-KR" sz="1800" dirty="0"/>
              <a:t>.</a:t>
            </a: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3AED67F2-88BB-1E83-C680-435975FC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>
            <a:normAutofit/>
          </a:bodyPr>
          <a:lstStyle/>
          <a:p>
            <a:r>
              <a:rPr lang="en-US" altLang="ko-KR" dirty="0"/>
              <a:t>Repository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652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Blackboard Style</a:t>
            </a:r>
            <a:endParaRPr lang="ko-KR" altLang="en-US" dirty="0"/>
          </a:p>
        </p:txBody>
      </p:sp>
      <p:sp>
        <p:nvSpPr>
          <p:cNvPr id="4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4752528" cy="3967286"/>
          </a:xfrm>
        </p:spPr>
        <p:txBody>
          <a:bodyPr>
            <a:normAutofit lnSpcReduction="10000"/>
          </a:bodyPr>
          <a:lstStyle/>
          <a:p>
            <a:r>
              <a:rPr lang="en-US" altLang="ko-KR" sz="1800" b="1" dirty="0"/>
              <a:t>Elements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Components</a:t>
            </a:r>
            <a:endParaRPr lang="ko-KR" altLang="en-US" sz="1600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b="1" dirty="0">
                <a:solidFill>
                  <a:srgbClr val="4156BD"/>
                </a:solidFill>
              </a:rPr>
              <a:t>knowledge</a:t>
            </a:r>
            <a:r>
              <a:rPr lang="en-US" altLang="ko-KR" sz="1400" dirty="0"/>
              <a:t> </a:t>
            </a:r>
            <a:r>
              <a:rPr lang="en-US" altLang="ko-KR" sz="1400" b="1" dirty="0">
                <a:solidFill>
                  <a:srgbClr val="4156BD"/>
                </a:solidFill>
              </a:rPr>
              <a:t>source</a:t>
            </a:r>
            <a:r>
              <a:rPr lang="en-US" altLang="ko-KR" sz="1400" dirty="0"/>
              <a:t> (data client)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A </a:t>
            </a:r>
            <a:r>
              <a:rPr lang="en-US" altLang="ko-KR" sz="1400" b="1" dirty="0">
                <a:solidFill>
                  <a:srgbClr val="4156BD"/>
                </a:solidFill>
              </a:rPr>
              <a:t>blackboard</a:t>
            </a:r>
            <a:r>
              <a:rPr lang="en-US" altLang="ko-KR" sz="1400" dirty="0"/>
              <a:t> component act as a central data repository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A </a:t>
            </a:r>
            <a:r>
              <a:rPr lang="en-US" altLang="ko-KR" sz="1400" b="1" dirty="0">
                <a:solidFill>
                  <a:srgbClr val="4156BD"/>
                </a:solidFill>
              </a:rPr>
              <a:t>controller</a:t>
            </a:r>
            <a:r>
              <a:rPr lang="en-US" altLang="ko-KR" sz="1400" dirty="0"/>
              <a:t> monitors the state of the blackboard and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   triggers the processing of knowledge sources.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</a:t>
            </a:r>
            <a:r>
              <a:rPr lang="en-US" altLang="ko-KR" sz="1600" dirty="0"/>
              <a:t> - Connectors</a:t>
            </a:r>
            <a:endParaRPr lang="ko-KR" altLang="en-US" sz="1600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b="1" dirty="0">
                <a:solidFill>
                  <a:srgbClr val="4156BD"/>
                </a:solidFill>
              </a:rPr>
              <a:t>data access </a:t>
            </a:r>
            <a:r>
              <a:rPr lang="en-US" altLang="ko-KR" sz="1400" dirty="0"/>
              <a:t>or </a:t>
            </a:r>
            <a:r>
              <a:rPr lang="en-US" altLang="ko-KR" sz="1400" b="1" dirty="0">
                <a:solidFill>
                  <a:srgbClr val="4156BD"/>
                </a:solidFill>
              </a:rPr>
              <a:t>procedure calls </a:t>
            </a:r>
          </a:p>
          <a:p>
            <a:r>
              <a:rPr lang="en-US" altLang="ko-KR" sz="1800" b="1" dirty="0"/>
              <a:t>Relations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See the figure on the right</a:t>
            </a:r>
          </a:p>
          <a:p>
            <a:r>
              <a:rPr lang="en-US" altLang="ko-KR" sz="1800" b="1" dirty="0"/>
              <a:t>Constraints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</a:t>
            </a:r>
            <a:r>
              <a:rPr lang="en-US" altLang="ko-KR" sz="1600" dirty="0">
                <a:solidFill>
                  <a:srgbClr val="FF0000"/>
                </a:solidFill>
              </a:rPr>
              <a:t>the data store (i.e., Controller and Blackboard) is active,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>
                <a:solidFill>
                  <a:srgbClr val="FF0000"/>
                </a:solidFill>
              </a:rPr>
              <a:t>    and its clients (i.e., Knowledge source)  are passive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892314" y="929863"/>
            <a:ext cx="3568118" cy="3730119"/>
            <a:chOff x="7640595" y="1639557"/>
            <a:chExt cx="3941805" cy="4120772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8203684" y="2202150"/>
              <a:ext cx="505833" cy="2885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KS1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9577473" y="2202150"/>
              <a:ext cx="505833" cy="2885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KS2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0718284" y="2202150"/>
              <a:ext cx="505833" cy="2885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KS3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9810234" y="3601951"/>
              <a:ext cx="1044442" cy="2885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ko-KR" sz="1200"/>
                <a:t>Blackboard</a:t>
              </a:r>
              <a:endParaRPr kumimoji="0" lang="en-US" altLang="en-US" sz="1200"/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10742069" y="2583150"/>
              <a:ext cx="357214" cy="1010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10032483" y="2583150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8737082" y="2583149"/>
              <a:ext cx="1073151" cy="10188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8" name="Line 32"/>
            <p:cNvSpPr>
              <a:spLocks noChangeShapeType="1"/>
            </p:cNvSpPr>
            <p:nvPr/>
          </p:nvSpPr>
          <p:spPr bwMode="auto">
            <a:xfrm flipH="1" flipV="1">
              <a:off x="8432283" y="2583149"/>
              <a:ext cx="76200" cy="1010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Line 33"/>
            <p:cNvSpPr>
              <a:spLocks noChangeShapeType="1"/>
            </p:cNvSpPr>
            <p:nvPr/>
          </p:nvSpPr>
          <p:spPr bwMode="auto">
            <a:xfrm flipV="1">
              <a:off x="8508483" y="2583150"/>
              <a:ext cx="1295400" cy="1010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0" name="Line 34"/>
            <p:cNvSpPr>
              <a:spLocks noChangeShapeType="1"/>
            </p:cNvSpPr>
            <p:nvPr/>
          </p:nvSpPr>
          <p:spPr bwMode="auto">
            <a:xfrm flipV="1">
              <a:off x="8508483" y="2583150"/>
              <a:ext cx="2362200" cy="10413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7911937" y="3607492"/>
              <a:ext cx="943453" cy="2885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02833" tIns="51417" rIns="102833" bIns="51417">
              <a:spAutoFit/>
            </a:bodyPr>
            <a:lstStyle>
              <a:lvl1pPr defTabSz="1028700"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defTabSz="102870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defTabSz="10287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defTabSz="10287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defTabSz="10287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defTabSz="10287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latinLnBrk="0" hangingPunct="1">
                <a:spcBef>
                  <a:spcPct val="25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Controller</a:t>
              </a: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9115540" y="3782520"/>
              <a:ext cx="694694" cy="174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Line 28"/>
            <p:cNvSpPr>
              <a:spLocks noChangeShapeType="1"/>
            </p:cNvSpPr>
            <p:nvPr/>
          </p:nvSpPr>
          <p:spPr bwMode="auto">
            <a:xfrm>
              <a:off x="8278323" y="5173203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9100649" y="4966829"/>
              <a:ext cx="226215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0" dirty="0">
                  <a:latin typeface="굴림" panose="020B0600000101010101" pitchFamily="50" charset="-127"/>
                </a:rPr>
                <a:t>Procedure calls (control)</a:t>
              </a:r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V="1">
              <a:off x="8278323" y="5633889"/>
              <a:ext cx="759508" cy="10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9120549" y="5452552"/>
              <a:ext cx="122982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0">
                  <a:latin typeface="굴림" panose="020B0600000101010101" pitchFamily="50" charset="-127"/>
                </a:rPr>
                <a:t>Data access</a:t>
              </a:r>
            </a:p>
          </p:txBody>
        </p:sp>
        <p:sp>
          <p:nvSpPr>
            <p:cNvPr id="27" name="모서리가 둥근 직사각형 26"/>
            <p:cNvSpPr/>
            <p:nvPr/>
          </p:nvSpPr>
          <p:spPr bwMode="auto">
            <a:xfrm>
              <a:off x="7640595" y="3429000"/>
              <a:ext cx="3941805" cy="691979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37831" y="1639557"/>
              <a:ext cx="1297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Data client</a:t>
              </a:r>
              <a:endParaRPr kumimoji="1" lang="ko-KR" altLang="en-US" sz="14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7831" y="4174572"/>
              <a:ext cx="1297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Data store</a:t>
              </a:r>
              <a:endParaRPr kumimoji="1" lang="ko-KR" altLang="en-US" sz="14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067944" y="77759"/>
            <a:ext cx="44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Data Centered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6564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3751262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Knowledge source : </a:t>
            </a:r>
            <a:r>
              <a:rPr lang="ko-KR" altLang="en-US" sz="1800" dirty="0"/>
              <a:t>전체 문제 중 일부를 해결하는 </a:t>
            </a:r>
            <a:r>
              <a:rPr lang="en-US" altLang="ko-KR" sz="1800" dirty="0"/>
              <a:t>data client </a:t>
            </a:r>
            <a:r>
              <a:rPr lang="ko-KR" altLang="en-US" sz="1800" dirty="0" err="1"/>
              <a:t>블랙보드하고만</a:t>
            </a:r>
            <a:r>
              <a:rPr lang="ko-KR" altLang="en-US" sz="1800" dirty="0"/>
              <a:t> 상호 작용</a:t>
            </a:r>
          </a:p>
          <a:p>
            <a:pPr marL="91463" indent="0">
              <a:buNone/>
            </a:pPr>
            <a:r>
              <a:rPr lang="en-US" altLang="ko-KR" sz="1800" dirty="0"/>
              <a:t>  Controller : </a:t>
            </a:r>
            <a:r>
              <a:rPr lang="ko-KR" altLang="en-US" sz="1800" dirty="0"/>
              <a:t>전체 문제의 해답을 구하기 위해 </a:t>
            </a:r>
            <a:r>
              <a:rPr lang="en-US" altLang="ko-KR" sz="1800" dirty="0"/>
              <a:t>KS</a:t>
            </a:r>
            <a:r>
              <a:rPr lang="ko-KR" altLang="en-US" sz="1800" dirty="0"/>
              <a:t>와 </a:t>
            </a:r>
            <a:r>
              <a:rPr lang="ko-KR" altLang="en-US" sz="1800" dirty="0" err="1"/>
              <a:t>블랙보드간의</a:t>
            </a:r>
            <a:r>
              <a:rPr lang="ko-KR" altLang="en-US" sz="1800" dirty="0"/>
              <a:t> </a:t>
            </a:r>
            <a:r>
              <a:rPr lang="en-US" altLang="ko-KR" sz="1800" dirty="0"/>
              <a:t>interaction</a:t>
            </a:r>
            <a:r>
              <a:rPr lang="ko-KR" altLang="en-US" sz="1800" dirty="0"/>
              <a:t>을 조정</a:t>
            </a:r>
          </a:p>
          <a:p>
            <a:pPr marL="91463" indent="0">
              <a:buNone/>
            </a:pPr>
            <a:r>
              <a:rPr lang="en-US" altLang="ko-KR" sz="1800" dirty="0"/>
              <a:t>  Blackboard : data</a:t>
            </a:r>
            <a:r>
              <a:rPr lang="ko-KR" altLang="en-US" sz="1800" dirty="0"/>
              <a:t>를 가지고 있음</a:t>
            </a:r>
          </a:p>
          <a:p>
            <a:pPr marL="91463" indent="0">
              <a:buNone/>
            </a:pPr>
            <a:r>
              <a:rPr lang="en-US" altLang="ko-KR" sz="1800" dirty="0"/>
              <a:t>  Data store</a:t>
            </a:r>
            <a:r>
              <a:rPr lang="ko-KR" altLang="en-US" sz="1800" dirty="0"/>
              <a:t>는 </a:t>
            </a:r>
            <a:r>
              <a:rPr lang="en-US" altLang="ko-KR" sz="1800" dirty="0"/>
              <a:t>Active , Data client</a:t>
            </a:r>
            <a:r>
              <a:rPr lang="ko-KR" altLang="en-US" sz="1800" dirty="0"/>
              <a:t>는 </a:t>
            </a:r>
            <a:r>
              <a:rPr lang="en-US" altLang="ko-KR" sz="1800" dirty="0"/>
              <a:t>passive.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KS</a:t>
            </a:r>
            <a:r>
              <a:rPr lang="ko-KR" altLang="en-US" sz="1800" dirty="0"/>
              <a:t>는 상호 독립적이기 때문에 병렬적으로 동시에 수행될 수 있다</a:t>
            </a:r>
            <a:r>
              <a:rPr lang="en-US" altLang="ko-KR" sz="1800" dirty="0"/>
              <a:t>.  (</a:t>
            </a:r>
            <a:r>
              <a:rPr lang="ko-KR" altLang="en-US" sz="1800" dirty="0"/>
              <a:t>공유된 데이터 접근은 동기화가 필요하다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다양한 가설 및 알고리즘을 실험하고 테스트하기 용이하다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각 </a:t>
            </a:r>
            <a:r>
              <a:rPr lang="en-US" altLang="ko-KR" sz="1800" dirty="0"/>
              <a:t>KS</a:t>
            </a:r>
            <a:r>
              <a:rPr lang="ko-KR" altLang="en-US" sz="1800" dirty="0"/>
              <a:t>가 </a:t>
            </a:r>
            <a:r>
              <a:rPr lang="en-US" altLang="ko-KR" sz="1800" dirty="0"/>
              <a:t>partial solution</a:t>
            </a:r>
            <a:r>
              <a:rPr lang="ko-KR" altLang="en-US" sz="1800" dirty="0"/>
              <a:t>을 만들기 때문에 언제 끝내야 하는지 알 수 없다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매 실행이 동일한 결과를 보장하지 않기 때문에 </a:t>
            </a:r>
            <a:r>
              <a:rPr lang="en-US" altLang="ko-KR" sz="1800" dirty="0"/>
              <a:t>test</a:t>
            </a:r>
            <a:r>
              <a:rPr lang="ko-KR" altLang="en-US" sz="1800" dirty="0"/>
              <a:t>가 어렵다</a:t>
            </a:r>
            <a:r>
              <a:rPr lang="en-US" altLang="ko-KR" sz="1800" dirty="0"/>
              <a:t>. (</a:t>
            </a:r>
            <a:r>
              <a:rPr lang="ko-KR" altLang="en-US" sz="1800" dirty="0"/>
              <a:t>결과를 재현할 수 없다</a:t>
            </a:r>
            <a:r>
              <a:rPr lang="en-US" altLang="ko-KR" sz="1800" dirty="0"/>
              <a:t>)</a:t>
            </a: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8BD1E95C-7A6E-7348-6AEB-84A42BC7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>
            <a:normAutofit/>
          </a:bodyPr>
          <a:lstStyle/>
          <a:p>
            <a:r>
              <a:rPr lang="en-US" altLang="ko-KR" dirty="0"/>
              <a:t>Blackboard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84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3895278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Elements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event source (subject)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provide mechanisms to register event listeners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notify event listeners of the occurrence of the event</a:t>
            </a:r>
          </a:p>
          <a:p>
            <a:r>
              <a:rPr lang="en-US" altLang="ko-KR" sz="1800" b="1" dirty="0"/>
              <a:t>event listener (observers)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specify action in the </a:t>
            </a:r>
            <a:r>
              <a:rPr lang="en-US" altLang="ko-KR" sz="1600" dirty="0" err="1"/>
              <a:t>handleEvent</a:t>
            </a:r>
            <a:r>
              <a:rPr lang="en-US" altLang="ko-KR" sz="1600" dirty="0"/>
              <a:t>() method to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 respond to incoming events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dirty="0"/>
          </a:p>
          <a:p>
            <a:pPr marL="91463" lvl="1" indent="0">
              <a:lnSpc>
                <a:spcPct val="70000"/>
              </a:lnSpc>
              <a:buNone/>
            </a:pPr>
            <a:endParaRPr lang="en-US" altLang="ko-KR" dirty="0"/>
          </a:p>
          <a:p>
            <a:r>
              <a:rPr lang="en-US" altLang="ko-KR" sz="1800" b="1" dirty="0"/>
              <a:t>The event registration process connects the two components.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 There is no buffer available between them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Non-buffered Event-Based Style</a:t>
            </a:r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4451570" y="1059583"/>
            <a:ext cx="4296894" cy="2448272"/>
            <a:chOff x="6242175" y="1819758"/>
            <a:chExt cx="5485932" cy="3125759"/>
          </a:xfrm>
        </p:grpSpPr>
        <p:sp>
          <p:nvSpPr>
            <p:cNvPr id="4" name="직사각형 3"/>
            <p:cNvSpPr/>
            <p:nvPr/>
          </p:nvSpPr>
          <p:spPr bwMode="auto">
            <a:xfrm>
              <a:off x="6242176" y="1819758"/>
              <a:ext cx="232204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EventSource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 bwMode="auto">
            <a:xfrm>
              <a:off x="9799389" y="2071040"/>
              <a:ext cx="192838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EventListener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9799389" y="3617605"/>
              <a:ext cx="192838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ConcreteEventListener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6249440" y="3617605"/>
              <a:ext cx="232204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ConcreteEventSource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6249440" y="2512609"/>
              <a:ext cx="2322048" cy="6386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addEventListener</a:t>
              </a: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()</a:t>
              </a: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dirty="0" err="1">
                  <a:latin typeface="Arial" charset="0"/>
                  <a:ea typeface="굴림" pitchFamily="50" charset="-127"/>
                </a:rPr>
                <a:t>removeEventListener</a:t>
              </a: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()</a:t>
              </a: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+notify()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 bwMode="auto">
            <a:xfrm>
              <a:off x="6242175" y="2169088"/>
              <a:ext cx="232204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 bwMode="auto">
            <a:xfrm>
              <a:off x="6249440" y="4306887"/>
              <a:ext cx="2322048" cy="6386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dirty="0" err="1">
                  <a:latin typeface="Arial" charset="0"/>
                  <a:ea typeface="굴림" pitchFamily="50" charset="-127"/>
                </a:rPr>
                <a:t>getState</a:t>
              </a: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()</a:t>
              </a:r>
            </a:p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setState</a:t>
              </a: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()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6249440" y="3957557"/>
              <a:ext cx="232204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-state</a:t>
              </a: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9799719" y="2771532"/>
              <a:ext cx="1928388" cy="38344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i="1" dirty="0" err="1">
                  <a:latin typeface="Arial" charset="0"/>
                  <a:ea typeface="굴림" pitchFamily="50" charset="-127"/>
                </a:rPr>
                <a:t>handleEvent</a:t>
              </a: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()</a:t>
              </a:r>
            </a:p>
          </p:txBody>
        </p:sp>
        <p:sp>
          <p:nvSpPr>
            <p:cNvPr id="13" name="직사각형 12"/>
            <p:cNvSpPr/>
            <p:nvPr/>
          </p:nvSpPr>
          <p:spPr bwMode="auto">
            <a:xfrm>
              <a:off x="9799599" y="2422202"/>
              <a:ext cx="192838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 bwMode="auto">
            <a:xfrm>
              <a:off x="9799389" y="4305748"/>
              <a:ext cx="1928388" cy="38344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+</a:t>
              </a:r>
              <a:r>
                <a:rPr kumimoji="1" lang="en-US" altLang="ko-KR" sz="1050" dirty="0" err="1">
                  <a:latin typeface="Arial" charset="0"/>
                  <a:ea typeface="굴림" pitchFamily="50" charset="-127"/>
                </a:rPr>
                <a:t>handleEvent</a:t>
              </a:r>
              <a:r>
                <a:rPr kumimoji="1" lang="en-US" altLang="ko-KR" sz="1050" dirty="0">
                  <a:latin typeface="Arial" charset="0"/>
                  <a:ea typeface="굴림" pitchFamily="50" charset="-127"/>
                </a:rPr>
                <a:t>()</a:t>
              </a: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9799389" y="3956418"/>
              <a:ext cx="1928388" cy="3493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16" name="직선 화살표 연결선 15"/>
            <p:cNvCxnSpPr>
              <a:stCxn id="7" idx="0"/>
              <a:endCxn id="8" idx="2"/>
            </p:cNvCxnSpPr>
            <p:nvPr/>
          </p:nvCxnSpPr>
          <p:spPr bwMode="auto">
            <a:xfrm flipV="1">
              <a:off x="7410463" y="3151238"/>
              <a:ext cx="0" cy="46636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이등변 삼각형 16"/>
            <p:cNvSpPr/>
            <p:nvPr/>
          </p:nvSpPr>
          <p:spPr bwMode="auto">
            <a:xfrm>
              <a:off x="7274661" y="3106834"/>
              <a:ext cx="271604" cy="1623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18" name="직선 화살표 연결선 17"/>
            <p:cNvCxnSpPr/>
            <p:nvPr/>
          </p:nvCxnSpPr>
          <p:spPr bwMode="auto">
            <a:xfrm flipV="1">
              <a:off x="10752029" y="3168791"/>
              <a:ext cx="0" cy="466366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이등변 삼각형 18"/>
            <p:cNvSpPr/>
            <p:nvPr/>
          </p:nvSpPr>
          <p:spPr bwMode="auto">
            <a:xfrm>
              <a:off x="10618206" y="3168791"/>
              <a:ext cx="271604" cy="1623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5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 bwMode="auto">
            <a:xfrm>
              <a:off x="8571487" y="2996444"/>
              <a:ext cx="1251522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직선 화살표 연결선 20"/>
            <p:cNvCxnSpPr/>
            <p:nvPr/>
          </p:nvCxnSpPr>
          <p:spPr bwMode="auto">
            <a:xfrm flipH="1">
              <a:off x="8510414" y="4508626"/>
              <a:ext cx="1337356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4" name="TextBox 23"/>
          <p:cNvSpPr txBox="1"/>
          <p:nvPr/>
        </p:nvSpPr>
        <p:spPr>
          <a:xfrm>
            <a:off x="4067944" y="77759"/>
            <a:ext cx="44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Implicit Invocation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90448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Event source</a:t>
            </a:r>
            <a:r>
              <a:rPr lang="ko-KR" altLang="en-US" sz="1800" dirty="0"/>
              <a:t>와 </a:t>
            </a:r>
            <a:r>
              <a:rPr lang="en-US" altLang="ko-KR" sz="1800" dirty="0"/>
              <a:t>event listener</a:t>
            </a:r>
            <a:r>
              <a:rPr lang="ko-KR" altLang="en-US" sz="1800" dirty="0"/>
              <a:t>사이에 </a:t>
            </a:r>
            <a:r>
              <a:rPr lang="en-US" altLang="ko-KR" sz="1800" dirty="0"/>
              <a:t>event </a:t>
            </a:r>
            <a:r>
              <a:rPr lang="ko-KR" altLang="en-US" sz="1800" dirty="0"/>
              <a:t>기반으로 통신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Event</a:t>
            </a:r>
            <a:r>
              <a:rPr lang="ko-KR" altLang="en-US" sz="1800" dirty="0"/>
              <a:t>가 발생하면 등록된 모든 </a:t>
            </a:r>
            <a:r>
              <a:rPr lang="en-US" altLang="ko-KR" sz="1800" dirty="0"/>
              <a:t>listener</a:t>
            </a:r>
            <a:r>
              <a:rPr lang="ko-KR" altLang="en-US" sz="1800" dirty="0"/>
              <a:t>에 </a:t>
            </a:r>
            <a:r>
              <a:rPr lang="en-US" altLang="ko-KR" sz="1800" dirty="0"/>
              <a:t>event</a:t>
            </a:r>
            <a:r>
              <a:rPr lang="ko-KR" altLang="en-US" sz="1800" dirty="0"/>
              <a:t>를 전달 </a:t>
            </a:r>
          </a:p>
          <a:p>
            <a:pPr marL="91463" indent="0">
              <a:buNone/>
            </a:pPr>
            <a:r>
              <a:rPr lang="en-US" altLang="ko-KR" sz="1800" dirty="0"/>
              <a:t>  Event listener</a:t>
            </a:r>
            <a:r>
              <a:rPr lang="ko-KR" altLang="en-US" sz="1800" dirty="0"/>
              <a:t>가 </a:t>
            </a:r>
            <a:r>
              <a:rPr lang="en-US" altLang="ko-KR" sz="1800" dirty="0"/>
              <a:t>handle event</a:t>
            </a:r>
            <a:r>
              <a:rPr lang="ko-KR" altLang="en-US" sz="1800" dirty="0"/>
              <a:t>에서 </a:t>
            </a:r>
            <a:r>
              <a:rPr lang="en-US" altLang="ko-KR" sz="1800" dirty="0"/>
              <a:t>event</a:t>
            </a:r>
            <a:r>
              <a:rPr lang="ko-KR" altLang="en-US" sz="1800" dirty="0"/>
              <a:t>에 대응하는 동작을 구현</a:t>
            </a:r>
          </a:p>
          <a:p>
            <a:pPr marL="91463" indent="0">
              <a:buNone/>
            </a:pPr>
            <a:r>
              <a:rPr lang="en-US" altLang="ko-KR" sz="1800" dirty="0"/>
              <a:t>  Synchronous processing</a:t>
            </a:r>
            <a:r>
              <a:rPr lang="ko-KR" altLang="en-US" sz="1800" dirty="0"/>
              <a:t>이 제약사항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많은 </a:t>
            </a:r>
            <a:r>
              <a:rPr lang="en-US" altLang="ko-KR" sz="1800" dirty="0"/>
              <a:t>UI framework</a:t>
            </a:r>
            <a:r>
              <a:rPr lang="ko-KR" altLang="en-US" sz="1800" dirty="0"/>
              <a:t>들이 </a:t>
            </a:r>
            <a:r>
              <a:rPr lang="en-US" altLang="ko-KR" sz="1800" dirty="0"/>
              <a:t>event </a:t>
            </a:r>
            <a:r>
              <a:rPr lang="ko-KR" altLang="en-US" sz="1800" dirty="0"/>
              <a:t>기반으로 되어 있다</a:t>
            </a:r>
          </a:p>
          <a:p>
            <a:pPr marL="91463" indent="0">
              <a:buNone/>
            </a:pPr>
            <a:r>
              <a:rPr lang="ko-KR" altLang="en-US" sz="1800" dirty="0"/>
              <a:t>   기존 </a:t>
            </a:r>
            <a:r>
              <a:rPr lang="en-US" altLang="ko-KR" sz="1800" dirty="0"/>
              <a:t>event listener</a:t>
            </a:r>
            <a:r>
              <a:rPr lang="ko-KR" altLang="en-US" sz="1800" dirty="0"/>
              <a:t>들을 쉽게 재사용 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source</a:t>
            </a:r>
            <a:r>
              <a:rPr lang="ko-KR" altLang="en-US" sz="1800" dirty="0"/>
              <a:t>와 </a:t>
            </a:r>
            <a:r>
              <a:rPr lang="en-US" altLang="ko-KR" sz="1800" dirty="0"/>
              <a:t>listener</a:t>
            </a:r>
            <a:r>
              <a:rPr lang="ko-KR" altLang="en-US" sz="1800" dirty="0"/>
              <a:t>가 독립적으로 </a:t>
            </a:r>
            <a:r>
              <a:rPr lang="en-US" altLang="ko-KR" sz="1800" dirty="0"/>
              <a:t>update</a:t>
            </a:r>
            <a:r>
              <a:rPr lang="ko-KR" altLang="en-US" sz="1800" dirty="0"/>
              <a:t>될 수 있다</a:t>
            </a:r>
            <a:r>
              <a:rPr lang="en-US" altLang="ko-KR" sz="1800" dirty="0"/>
              <a:t>. (</a:t>
            </a:r>
            <a:r>
              <a:rPr lang="ko-KR" altLang="en-US" sz="1800" dirty="0"/>
              <a:t>약하게 결합되어 있음</a:t>
            </a:r>
            <a:r>
              <a:rPr lang="en-US" altLang="ko-KR" sz="1800" dirty="0"/>
              <a:t>)/ </a:t>
            </a:r>
            <a:r>
              <a:rPr lang="ko-KR" altLang="en-US" sz="1800" dirty="0"/>
              <a:t>동적으로 연결 및 해제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event listener</a:t>
            </a:r>
            <a:r>
              <a:rPr lang="ko-KR" altLang="en-US" sz="1800" dirty="0"/>
              <a:t>의 처리 여부 </a:t>
            </a:r>
            <a:r>
              <a:rPr lang="en-US" altLang="ko-KR" sz="1800" dirty="0"/>
              <a:t>, </a:t>
            </a:r>
            <a:r>
              <a:rPr lang="ko-KR" altLang="en-US" sz="1800" dirty="0"/>
              <a:t>순서를 알기 어렵다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Overhead</a:t>
            </a:r>
            <a:r>
              <a:rPr lang="ko-KR" altLang="en-US" sz="1800" dirty="0"/>
              <a:t>가 존재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message </a:t>
            </a:r>
            <a:r>
              <a:rPr lang="ko-KR" altLang="en-US" sz="1800" dirty="0"/>
              <a:t>기반의 방법 보다 </a:t>
            </a:r>
            <a:r>
              <a:rPr lang="en-US" altLang="ko-KR" sz="1800" dirty="0"/>
              <a:t>source</a:t>
            </a:r>
            <a:r>
              <a:rPr lang="ko-KR" altLang="en-US" sz="1800" dirty="0"/>
              <a:t>와 </a:t>
            </a:r>
            <a:r>
              <a:rPr lang="en-US" altLang="ko-KR" sz="1800" dirty="0"/>
              <a:t>listener</a:t>
            </a:r>
            <a:r>
              <a:rPr lang="ko-KR" altLang="en-US" sz="1800" dirty="0"/>
              <a:t>의 관계의 </a:t>
            </a:r>
            <a:r>
              <a:rPr lang="en-US" altLang="ko-KR" sz="1800" dirty="0"/>
              <a:t>dependency</a:t>
            </a:r>
            <a:r>
              <a:rPr lang="ko-KR" altLang="en-US" sz="1800" dirty="0"/>
              <a:t>가 상대적으로 깊다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47DA288E-A877-C409-9D13-EC1B106F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Non-buffered Event-Based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7999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Buffered Message-Based Style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7944" y="77759"/>
            <a:ext cx="441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400" b="1" dirty="0"/>
              <a:t>Implicit Invocation Architecture</a:t>
            </a:r>
          </a:p>
        </p:txBody>
      </p:sp>
      <p:sp>
        <p:nvSpPr>
          <p:cNvPr id="26" name="내용 개체 틀 1">
            <a:extLst>
              <a:ext uri="{FF2B5EF4-FFF2-40B4-BE49-F238E27FC236}">
                <a16:creationId xmlns:a16="http://schemas.microsoft.com/office/drawing/2014/main" id="{512155DD-1F77-2DEB-2358-6A28F5454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3895278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The buffered message-based software architecture breaks the software system into two partitions:</a:t>
            </a:r>
          </a:p>
          <a:p>
            <a:pPr marL="91463" indent="0">
              <a:buNone/>
            </a:pPr>
            <a:r>
              <a:rPr lang="en-US" altLang="ko-KR" sz="1800" b="1" dirty="0"/>
              <a:t> - Message producers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. generates</a:t>
            </a:r>
            <a:r>
              <a:rPr lang="ko-KR" altLang="en-US" sz="1600" dirty="0"/>
              <a:t> </a:t>
            </a:r>
            <a:r>
              <a:rPr lang="en-US" altLang="ko-KR" sz="1600" dirty="0"/>
              <a:t>a</a:t>
            </a:r>
            <a:r>
              <a:rPr lang="ko-KR" altLang="en-US" sz="1600" dirty="0"/>
              <a:t> </a:t>
            </a:r>
            <a:r>
              <a:rPr lang="en-US" altLang="ko-KR" sz="1600" dirty="0"/>
              <a:t>message</a:t>
            </a:r>
            <a:r>
              <a:rPr lang="ko-KR" altLang="en-US" sz="1600" dirty="0"/>
              <a:t> </a:t>
            </a:r>
            <a:r>
              <a:rPr lang="en-US" altLang="ko-KR" sz="1600" dirty="0"/>
              <a:t>and</a:t>
            </a:r>
            <a:r>
              <a:rPr lang="ko-KR" altLang="en-US" sz="1600" dirty="0"/>
              <a:t> </a:t>
            </a:r>
            <a:r>
              <a:rPr lang="en-US" altLang="ko-KR" sz="1600" dirty="0"/>
              <a:t>sends</a:t>
            </a:r>
            <a:r>
              <a:rPr lang="ko-KR" altLang="en-US" sz="1600" dirty="0"/>
              <a:t> </a:t>
            </a:r>
            <a:r>
              <a:rPr lang="en-US" altLang="ko-KR" sz="1600" dirty="0"/>
              <a:t>it to the destination queue or topic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. Do not know the consumers of the message</a:t>
            </a:r>
          </a:p>
          <a:p>
            <a:pPr marL="91463" indent="0">
              <a:buNone/>
            </a:pPr>
            <a:r>
              <a:rPr lang="en-US" altLang="ko-KR" sz="1800" b="1" dirty="0"/>
              <a:t> - Message Consumers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, receive the message from the destination queue or topic asynchronously</a:t>
            </a:r>
            <a:endParaRPr lang="en-US" altLang="ko-KR" dirty="0"/>
          </a:p>
          <a:p>
            <a:r>
              <a:rPr lang="en-US" altLang="ko-KR" sz="1800" b="1" dirty="0"/>
              <a:t>They are connected asynchronously by a buffer (either a message queue or a message topic)</a:t>
            </a:r>
          </a:p>
        </p:txBody>
      </p:sp>
    </p:spTree>
    <p:extLst>
      <p:ext uri="{BB962C8B-B14F-4D97-AF65-F5344CB8AC3E}">
        <p14:creationId xmlns:p14="http://schemas.microsoft.com/office/powerpoint/2010/main" val="298530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Message producer</a:t>
            </a:r>
            <a:r>
              <a:rPr lang="ko-KR" altLang="en-US" sz="1800" dirty="0"/>
              <a:t>와 </a:t>
            </a:r>
            <a:r>
              <a:rPr lang="en-US" altLang="ko-KR" sz="1800" dirty="0"/>
              <a:t>consumer</a:t>
            </a:r>
            <a:r>
              <a:rPr lang="ko-KR" altLang="en-US" sz="1800" dirty="0"/>
              <a:t>로 구성되어 있으며 </a:t>
            </a:r>
            <a:endParaRPr lang="en-US" altLang="ko-KR" sz="1800" dirty="0"/>
          </a:p>
          <a:p>
            <a:pPr marL="91463" indent="0">
              <a:buNone/>
            </a:pPr>
            <a:r>
              <a:rPr lang="en-US" altLang="ko-KR" sz="1800" dirty="0"/>
              <a:t>  Message</a:t>
            </a:r>
            <a:r>
              <a:rPr lang="ko-KR" altLang="en-US" sz="1800" dirty="0"/>
              <a:t> </a:t>
            </a:r>
            <a:r>
              <a:rPr lang="en-US" altLang="ko-KR" sz="1800" dirty="0"/>
              <a:t>producer</a:t>
            </a:r>
            <a:r>
              <a:rPr lang="ko-KR" altLang="en-US" sz="1800" dirty="0"/>
              <a:t>는 메시지가 누가 소비하는 지 알지 못하고 </a:t>
            </a:r>
            <a:r>
              <a:rPr lang="en-US" altLang="ko-KR" sz="1800" dirty="0"/>
              <a:t>consumer</a:t>
            </a:r>
            <a:r>
              <a:rPr lang="ko-KR" altLang="en-US" sz="1800" dirty="0"/>
              <a:t>는 메시지 큐로부터 메시지를 </a:t>
            </a:r>
            <a:endParaRPr lang="en-US" altLang="ko-KR" sz="1800" dirty="0"/>
          </a:p>
          <a:p>
            <a:pPr marL="91463" indent="0">
              <a:buNone/>
            </a:pPr>
            <a:r>
              <a:rPr lang="en-US" altLang="ko-KR" sz="1800" dirty="0"/>
              <a:t>  Async</a:t>
            </a:r>
            <a:r>
              <a:rPr lang="ko-KR" altLang="en-US" sz="1800" dirty="0"/>
              <a:t>하게 처리한다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Message</a:t>
            </a:r>
            <a:r>
              <a:rPr lang="ko-KR" altLang="en-US" sz="1800" dirty="0"/>
              <a:t> </a:t>
            </a:r>
            <a:r>
              <a:rPr lang="en-US" altLang="ko-KR" sz="1800" dirty="0"/>
              <a:t>consumer</a:t>
            </a:r>
            <a:r>
              <a:rPr lang="ko-KR" altLang="en-US" sz="1800" dirty="0"/>
              <a:t>는 </a:t>
            </a:r>
            <a:r>
              <a:rPr lang="en-US" altLang="ko-KR" sz="1800" dirty="0"/>
              <a:t>Message producer</a:t>
            </a:r>
            <a:r>
              <a:rPr lang="ko-KR" altLang="en-US" sz="1800" dirty="0"/>
              <a:t>를 몰라도 동작할 수 있다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Message producer</a:t>
            </a:r>
            <a:r>
              <a:rPr lang="ko-KR" altLang="en-US" sz="1800" dirty="0"/>
              <a:t>와 </a:t>
            </a:r>
            <a:r>
              <a:rPr lang="en-US" altLang="ko-KR" sz="1800" dirty="0"/>
              <a:t>consume</a:t>
            </a:r>
            <a:r>
              <a:rPr lang="ko-KR" altLang="en-US" sz="1800" dirty="0"/>
              <a:t>들 간의 </a:t>
            </a:r>
            <a:r>
              <a:rPr lang="en-US" altLang="ko-KR" sz="1800" dirty="0"/>
              <a:t>concurrency</a:t>
            </a:r>
            <a:r>
              <a:rPr lang="ko-KR" altLang="en-US" sz="1800" dirty="0"/>
              <a:t>를 보장할 수 있다</a:t>
            </a:r>
            <a:r>
              <a:rPr lang="en-US" altLang="ko-KR" sz="1800" dirty="0"/>
              <a:t>.</a:t>
            </a:r>
          </a:p>
          <a:p>
            <a:pPr marL="91463" indent="0">
              <a:buNone/>
            </a:pPr>
            <a:r>
              <a:rPr lang="en-US" altLang="ko-KR" sz="1800" dirty="0"/>
              <a:t>   Message </a:t>
            </a:r>
            <a:r>
              <a:rPr lang="ko-KR" altLang="en-US" sz="1800" dirty="0"/>
              <a:t>수신 여부를 확인할 수 있다</a:t>
            </a:r>
            <a:r>
              <a:rPr lang="en-US" altLang="ko-KR" sz="1800" dirty="0"/>
              <a:t>. (Message expiration , priority </a:t>
            </a:r>
            <a:r>
              <a:rPr lang="ko-KR" altLang="en-US" sz="1800" dirty="0"/>
              <a:t>등을 설정할 수 있다</a:t>
            </a:r>
            <a:r>
              <a:rPr lang="en-US" altLang="ko-KR" sz="18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Message buffer</a:t>
            </a:r>
            <a:r>
              <a:rPr lang="ko-KR" altLang="en-US" sz="1800" dirty="0"/>
              <a:t>에 따른 </a:t>
            </a:r>
            <a:r>
              <a:rPr lang="en-US" altLang="ko-KR" sz="1800" dirty="0"/>
              <a:t>overhead </a:t>
            </a:r>
            <a:r>
              <a:rPr lang="ko-KR" altLang="en-US" sz="1800" dirty="0"/>
              <a:t>및 </a:t>
            </a:r>
            <a:r>
              <a:rPr lang="en-US" altLang="ko-KR" sz="1800" dirty="0"/>
              <a:t>complexity </a:t>
            </a:r>
            <a:r>
              <a:rPr lang="ko-KR" altLang="en-US" sz="1800" dirty="0"/>
              <a:t>중가</a:t>
            </a:r>
            <a:endParaRPr lang="en-US" altLang="ko-KR" sz="1800" dirty="0"/>
          </a:p>
          <a:p>
            <a:pPr marL="91463" indent="0">
              <a:buNone/>
            </a:pPr>
            <a:r>
              <a:rPr lang="en-US" altLang="ko-KR" sz="1800" dirty="0"/>
              <a:t>   Message </a:t>
            </a:r>
            <a:r>
              <a:rPr lang="ko-KR" altLang="en-US" sz="1800" dirty="0"/>
              <a:t>큐 </a:t>
            </a:r>
            <a:r>
              <a:rPr lang="en-US" altLang="ko-KR" sz="1800" dirty="0"/>
              <a:t>(</a:t>
            </a:r>
            <a:r>
              <a:rPr lang="ko-KR" altLang="en-US" sz="1800" dirty="0"/>
              <a:t>메모리</a:t>
            </a:r>
            <a:r>
              <a:rPr lang="en-US" altLang="ko-KR" sz="1800" dirty="0"/>
              <a:t>)</a:t>
            </a:r>
            <a:r>
              <a:rPr lang="ko-KR" altLang="en-US" sz="1800" dirty="0"/>
              <a:t>에 대한 제약사항이 있을 수 있다</a:t>
            </a:r>
            <a:r>
              <a:rPr lang="en-US" altLang="ko-KR" sz="1800" dirty="0"/>
              <a:t>. 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47DA288E-A877-C409-9D13-EC1B106FF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Buffered</a:t>
            </a:r>
            <a:r>
              <a:rPr lang="ko-KR" altLang="en-US" dirty="0"/>
              <a:t> </a:t>
            </a:r>
            <a:r>
              <a:rPr lang="en-US" altLang="ko-KR" dirty="0"/>
              <a:t>Message-Based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161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286" y="1707654"/>
            <a:ext cx="4664170" cy="3175908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Model-View-Controller Style</a:t>
            </a:r>
            <a:endParaRPr lang="ko-KR" altLang="en-US" dirty="0"/>
          </a:p>
        </p:txBody>
      </p:sp>
      <p:sp>
        <p:nvSpPr>
          <p:cNvPr id="7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MVC decomposes an interactive application into three interconnected parts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</a:t>
            </a:r>
            <a:r>
              <a:rPr lang="en-US" altLang="ko-KR" sz="1600" b="1" dirty="0"/>
              <a:t>Model</a:t>
            </a:r>
            <a:r>
              <a:rPr lang="en-US" altLang="ko-KR" sz="1600" dirty="0"/>
              <a:t> : encapsulates of the underlying data and business logic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</a:t>
            </a:r>
            <a:r>
              <a:rPr lang="en-US" altLang="ko-KR" sz="1600" b="1" dirty="0"/>
              <a:t>Controller</a:t>
            </a:r>
            <a:r>
              <a:rPr lang="en-US" altLang="ko-KR" sz="1600" dirty="0"/>
              <a:t>: responds to user action and direct the application flow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-</a:t>
            </a:r>
            <a:r>
              <a:rPr lang="en-US" altLang="ko-KR" sz="1600" b="1" dirty="0"/>
              <a:t>View</a:t>
            </a:r>
            <a:r>
              <a:rPr lang="en-US" altLang="ko-KR" sz="1600" dirty="0"/>
              <a:t>: displays information to the user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91673" y="206519"/>
            <a:ext cx="24847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Interaction Oriented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5144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</a:t>
            </a:r>
            <a:r>
              <a:rPr lang="ko-KR" altLang="en-US" sz="1800" dirty="0"/>
              <a:t>사용자에게 보여지고 사용자로부터 입력 받는 부분과 내부적인 정보를 다루는 부분을 분리하여 구현</a:t>
            </a:r>
          </a:p>
          <a:p>
            <a:pPr marL="91463" indent="0">
              <a:buNone/>
            </a:pPr>
            <a:r>
              <a:rPr lang="ko-KR" altLang="en-US" sz="1800" dirty="0"/>
              <a:t>  내부의 정보 변화가 사용자의 </a:t>
            </a:r>
            <a:r>
              <a:rPr lang="en-US" altLang="ko-KR" sz="1800" dirty="0"/>
              <a:t>interface</a:t>
            </a:r>
            <a:r>
              <a:rPr lang="ko-KR" altLang="en-US" sz="1800" dirty="0"/>
              <a:t>에 다양하고 즉각적으로 표현되게 함</a:t>
            </a:r>
            <a:r>
              <a:rPr lang="en-US" altLang="ko-KR" sz="1800" dirty="0"/>
              <a:t>.</a:t>
            </a:r>
          </a:p>
          <a:p>
            <a:pPr marL="91463" indent="0">
              <a:buNone/>
            </a:pPr>
            <a:r>
              <a:rPr lang="en-US" altLang="ko-KR" sz="1800" dirty="0"/>
              <a:t>  Controller</a:t>
            </a:r>
            <a:r>
              <a:rPr lang="ko-KR" altLang="en-US" sz="1800" dirty="0"/>
              <a:t>에서 </a:t>
            </a:r>
            <a:r>
              <a:rPr lang="en-US" altLang="ko-KR" sz="1800" dirty="0"/>
              <a:t>application logic</a:t>
            </a:r>
            <a:r>
              <a:rPr lang="ko-KR" altLang="en-US" sz="1800" dirty="0"/>
              <a:t>을 담당</a:t>
            </a:r>
            <a:r>
              <a:rPr lang="en-US" altLang="ko-KR" sz="1800" dirty="0"/>
              <a:t>, view</a:t>
            </a:r>
            <a:r>
              <a:rPr lang="ko-KR" altLang="en-US" sz="1800" dirty="0"/>
              <a:t>에서 입력을 받아 </a:t>
            </a:r>
            <a:r>
              <a:rPr lang="en-US" altLang="ko-KR" sz="1800" dirty="0"/>
              <a:t>controller</a:t>
            </a:r>
            <a:r>
              <a:rPr lang="ko-KR" altLang="en-US" sz="1800" dirty="0"/>
              <a:t>에 전달하는 역할</a:t>
            </a:r>
          </a:p>
          <a:p>
            <a:pPr marL="91463" indent="0">
              <a:buNone/>
            </a:pPr>
            <a:r>
              <a:rPr lang="en-US" altLang="ko-KR" sz="1800" dirty="0"/>
              <a:t>  View</a:t>
            </a:r>
            <a:r>
              <a:rPr lang="ko-KR" altLang="en-US" sz="1800" dirty="0"/>
              <a:t>와 </a:t>
            </a:r>
            <a:r>
              <a:rPr lang="en-US" altLang="ko-KR" sz="1800" dirty="0"/>
              <a:t>controller</a:t>
            </a:r>
            <a:r>
              <a:rPr lang="ko-KR" altLang="en-US" sz="1800" dirty="0"/>
              <a:t>는 </a:t>
            </a:r>
            <a:r>
              <a:rPr lang="en-US" altLang="ko-KR" sz="1800" dirty="0"/>
              <a:t>Model</a:t>
            </a:r>
            <a:r>
              <a:rPr lang="ko-KR" altLang="en-US" sz="1800" dirty="0"/>
              <a:t>의 변화를 </a:t>
            </a:r>
            <a:r>
              <a:rPr lang="en-US" altLang="ko-KR" sz="1800" dirty="0"/>
              <a:t>observer</a:t>
            </a:r>
            <a:r>
              <a:rPr lang="ko-KR" altLang="en-US" sz="1800" dirty="0"/>
              <a:t>를 통해 관찰</a:t>
            </a:r>
            <a:endParaRPr lang="en-US" altLang="ko-KR" sz="1800" dirty="0"/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동기화된 </a:t>
            </a:r>
            <a:r>
              <a:rPr lang="en-US" altLang="ko-KR" sz="1800" dirty="0"/>
              <a:t>view</a:t>
            </a:r>
            <a:r>
              <a:rPr lang="ko-KR" altLang="en-US" sz="1800" dirty="0"/>
              <a:t>를 제공해 줄 수 있다</a:t>
            </a:r>
            <a:r>
              <a:rPr lang="en-US" altLang="ko-KR" sz="1800" dirty="0"/>
              <a:t>. View</a:t>
            </a:r>
            <a:r>
              <a:rPr lang="ko-KR" altLang="en-US" sz="1800" dirty="0"/>
              <a:t>나 </a:t>
            </a:r>
            <a:r>
              <a:rPr lang="en-US" altLang="ko-KR" sz="1800" dirty="0"/>
              <a:t>Controller</a:t>
            </a:r>
            <a:r>
              <a:rPr lang="ko-KR" altLang="en-US" sz="1800" dirty="0"/>
              <a:t>가 동적으로 </a:t>
            </a:r>
            <a:r>
              <a:rPr lang="en-US" altLang="ko-KR" sz="1800" dirty="0"/>
              <a:t>pluggable </a:t>
            </a:r>
            <a:r>
              <a:rPr lang="ko-KR" altLang="en-US" sz="1800" dirty="0"/>
              <a:t>할 수 있다</a:t>
            </a:r>
            <a:r>
              <a:rPr lang="en-US" altLang="ko-KR" sz="1800" dirty="0"/>
              <a:t>. Application</a:t>
            </a:r>
            <a:r>
              <a:rPr lang="ko-KR" altLang="en-US" sz="1800" dirty="0"/>
              <a:t>의 </a:t>
            </a:r>
            <a:r>
              <a:rPr lang="en-US" altLang="ko-KR" sz="1800" dirty="0"/>
              <a:t>Look and feel</a:t>
            </a:r>
            <a:r>
              <a:rPr lang="ko-KR" altLang="en-US" sz="1800" dirty="0"/>
              <a:t>을 교체할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복잡하다</a:t>
            </a:r>
            <a:r>
              <a:rPr lang="en-US" altLang="ko-KR" sz="1800" dirty="0"/>
              <a:t>. </a:t>
            </a:r>
            <a:r>
              <a:rPr lang="ko-KR" altLang="en-US" sz="1800" dirty="0"/>
              <a:t>하나의 데이터에 여러 </a:t>
            </a:r>
            <a:r>
              <a:rPr lang="en-US" altLang="ko-KR" sz="1800" dirty="0"/>
              <a:t>UI</a:t>
            </a:r>
            <a:r>
              <a:rPr lang="ko-KR" altLang="en-US" sz="1800" dirty="0"/>
              <a:t>가 있을 때 </a:t>
            </a:r>
            <a:r>
              <a:rPr lang="en-US" altLang="ko-KR" sz="1800" dirty="0"/>
              <a:t>MVC</a:t>
            </a:r>
            <a:r>
              <a:rPr lang="ko-KR" altLang="en-US" sz="1800" dirty="0"/>
              <a:t>가 적합 </a:t>
            </a:r>
          </a:p>
          <a:p>
            <a:pPr marL="91463" indent="0">
              <a:buNone/>
            </a:pPr>
            <a:r>
              <a:rPr lang="ko-KR" altLang="en-US" sz="1800" dirty="0"/>
              <a:t>모델의 변화에 따라서 </a:t>
            </a:r>
            <a:r>
              <a:rPr lang="en-US" altLang="ko-KR" sz="1800" dirty="0"/>
              <a:t>View</a:t>
            </a:r>
            <a:r>
              <a:rPr lang="ko-KR" altLang="en-US" sz="1800" dirty="0"/>
              <a:t>나 </a:t>
            </a:r>
            <a:r>
              <a:rPr lang="en-US" altLang="ko-KR" sz="1800" dirty="0"/>
              <a:t>Controller</a:t>
            </a:r>
            <a:r>
              <a:rPr lang="ko-KR" altLang="en-US" sz="1800" dirty="0"/>
              <a:t>가 너무 자주 업데이트 된다 </a:t>
            </a:r>
          </a:p>
          <a:p>
            <a:pPr marL="91463" indent="0">
              <a:buNone/>
            </a:pPr>
            <a:r>
              <a:rPr lang="ko-KR" altLang="en-US" sz="1800" dirty="0"/>
              <a:t>모델의 데이터가 변할 때 </a:t>
            </a:r>
            <a:r>
              <a:rPr lang="en-US" altLang="ko-KR" sz="1800" dirty="0"/>
              <a:t>view</a:t>
            </a:r>
            <a:r>
              <a:rPr lang="ko-KR" altLang="en-US" sz="1800" dirty="0"/>
              <a:t>가 이를 인지하기 위해 </a:t>
            </a:r>
            <a:r>
              <a:rPr lang="en-US" altLang="ko-KR" sz="1800" dirty="0"/>
              <a:t>multiple access</a:t>
            </a:r>
            <a:r>
              <a:rPr lang="ko-KR" altLang="en-US" sz="1800" dirty="0"/>
              <a:t>가 필요할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UI toolkit</a:t>
            </a:r>
            <a:r>
              <a:rPr lang="ko-KR" altLang="en-US" sz="1800" dirty="0"/>
              <a:t>에 따라 딱 맞지 않을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10" name="제목 2">
            <a:extLst>
              <a:ext uri="{FF2B5EF4-FFF2-40B4-BE49-F238E27FC236}">
                <a16:creationId xmlns:a16="http://schemas.microsoft.com/office/drawing/2014/main" id="{F45F2D13-02A7-D1A5-FE65-3C6D99C7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>
            <a:normAutofit/>
          </a:bodyPr>
          <a:lstStyle/>
          <a:p>
            <a:r>
              <a:rPr lang="en-US" altLang="ko-KR" dirty="0"/>
              <a:t>Model-View-Controller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95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Structure</a:t>
            </a:r>
            <a:endParaRPr lang="en-US" altLang="ko-KR" sz="1800" b="1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Presentation-Abstraction-Control Style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191673" y="206519"/>
            <a:ext cx="24847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Interaction Oriented Architecture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47614"/>
            <a:ext cx="6443754" cy="34062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94507" y="1617062"/>
            <a:ext cx="28379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no direct connections between abstraction component and presentation component</a:t>
            </a:r>
            <a:endParaRPr kumimoji="1"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67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Agent </a:t>
            </a:r>
            <a:r>
              <a:rPr lang="ko-KR" altLang="en-US" sz="1800" dirty="0"/>
              <a:t>기반의 </a:t>
            </a:r>
            <a:r>
              <a:rPr lang="en-US" altLang="ko-KR" sz="1800" dirty="0"/>
              <a:t>tree</a:t>
            </a:r>
            <a:r>
              <a:rPr lang="ko-KR" altLang="en-US" sz="1800" dirty="0"/>
              <a:t>구조를 갖게 됨  </a:t>
            </a:r>
            <a:r>
              <a:rPr lang="en-US" altLang="ko-KR" sz="1800" dirty="0"/>
              <a:t>(presentation abstraction control)</a:t>
            </a:r>
          </a:p>
          <a:p>
            <a:pPr marL="91463" indent="0">
              <a:buNone/>
            </a:pPr>
            <a:r>
              <a:rPr lang="ko-KR" altLang="en-US" sz="1800" dirty="0"/>
              <a:t>각각의 </a:t>
            </a:r>
            <a:r>
              <a:rPr lang="en-US" altLang="ko-KR" sz="1800" dirty="0"/>
              <a:t>agent</a:t>
            </a:r>
            <a:r>
              <a:rPr lang="ko-KR" altLang="en-US" sz="1800" dirty="0"/>
              <a:t>는 </a:t>
            </a:r>
            <a:r>
              <a:rPr lang="en-US" altLang="ko-KR" sz="1800" dirty="0"/>
              <a:t>application </a:t>
            </a:r>
            <a:r>
              <a:rPr lang="ko-KR" altLang="en-US" sz="1800" dirty="0"/>
              <a:t>기능 중 특정한 부분을 담당</a:t>
            </a:r>
          </a:p>
          <a:p>
            <a:pPr marL="91463" indent="0">
              <a:buNone/>
            </a:pPr>
            <a:r>
              <a:rPr lang="en-US" altLang="ko-KR" sz="1800" dirty="0"/>
              <a:t>Abstraction</a:t>
            </a:r>
            <a:r>
              <a:rPr lang="ko-KR" altLang="en-US" sz="1800" dirty="0"/>
              <a:t>과 </a:t>
            </a:r>
            <a:r>
              <a:rPr lang="en-US" altLang="ko-KR" sz="1800" dirty="0"/>
              <a:t>Presentation</a:t>
            </a:r>
            <a:r>
              <a:rPr lang="ko-KR" altLang="en-US" sz="1800" dirty="0"/>
              <a:t>은 직접적인 연결이 없음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어플리케이션 관점에서 기능을 분할하여 다룰 수 있음</a:t>
            </a:r>
          </a:p>
          <a:p>
            <a:pPr marL="91463" indent="0">
              <a:buNone/>
            </a:pPr>
            <a:r>
              <a:rPr lang="en-US" altLang="ko-KR" sz="1800" dirty="0"/>
              <a:t>Control</a:t>
            </a:r>
            <a:r>
              <a:rPr lang="ko-KR" altLang="en-US" sz="1800" dirty="0"/>
              <a:t>에 의해서만 </a:t>
            </a:r>
            <a:r>
              <a:rPr lang="en-US" altLang="ko-KR" sz="1800" dirty="0"/>
              <a:t>Presentation</a:t>
            </a:r>
            <a:r>
              <a:rPr lang="ko-KR" altLang="en-US" sz="1800" dirty="0"/>
              <a:t>과 </a:t>
            </a:r>
            <a:r>
              <a:rPr lang="en-US" altLang="ko-KR" sz="1800" dirty="0"/>
              <a:t>Abstraction</a:t>
            </a:r>
            <a:r>
              <a:rPr lang="ko-KR" altLang="en-US" sz="1800" dirty="0"/>
              <a:t>이 다루어 지기 때문에 </a:t>
            </a:r>
            <a:r>
              <a:rPr lang="en-US" altLang="ko-KR" sz="1800" dirty="0"/>
              <a:t>Agent</a:t>
            </a:r>
            <a:r>
              <a:rPr lang="ko-KR" altLang="en-US" sz="1800" dirty="0"/>
              <a:t>의 변화가 서로 영향을 미치지 않는다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Agent</a:t>
            </a:r>
            <a:r>
              <a:rPr lang="ko-KR" altLang="en-US" sz="1800" dirty="0"/>
              <a:t>들이 독립적이라서 분산 배포 실행이 용이하다 </a:t>
            </a:r>
            <a:r>
              <a:rPr lang="en-US" altLang="ko-KR" sz="1800" dirty="0"/>
              <a:t>(thread, process)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</a:t>
            </a:r>
            <a:r>
              <a:rPr lang="ko-KR" altLang="en-US" sz="1800" dirty="0"/>
              <a:t>복잡하다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Agent</a:t>
            </a:r>
            <a:r>
              <a:rPr lang="ko-KR" altLang="en-US" sz="1800" dirty="0"/>
              <a:t>간에 </a:t>
            </a:r>
            <a:r>
              <a:rPr lang="en-US" altLang="ko-KR" sz="1800" dirty="0"/>
              <a:t>communication</a:t>
            </a:r>
            <a:r>
              <a:rPr lang="ko-KR" altLang="en-US" sz="1800" dirty="0"/>
              <a:t>의 </a:t>
            </a:r>
            <a:r>
              <a:rPr lang="en-US" altLang="ko-KR" sz="1800" dirty="0"/>
              <a:t>overhead</a:t>
            </a:r>
            <a:r>
              <a:rPr lang="ko-KR" altLang="en-US" sz="1800" dirty="0"/>
              <a:t>가 있다</a:t>
            </a:r>
            <a:r>
              <a:rPr lang="en-US" altLang="ko-KR" sz="1800" dirty="0"/>
              <a:t>. (</a:t>
            </a:r>
            <a:r>
              <a:rPr lang="ko-KR" altLang="en-US" sz="1800" dirty="0"/>
              <a:t>최상위가 최하위 </a:t>
            </a:r>
            <a:r>
              <a:rPr lang="en-US" altLang="ko-KR" sz="1800" dirty="0"/>
              <a:t>agent</a:t>
            </a:r>
            <a:r>
              <a:rPr lang="ko-KR" altLang="en-US" sz="1800" dirty="0"/>
              <a:t>와 통신할 때</a:t>
            </a:r>
            <a:r>
              <a:rPr lang="en-US" altLang="ko-KR" sz="1800" dirty="0"/>
              <a:t>)</a:t>
            </a:r>
            <a:endParaRPr lang="en-US" altLang="ko-KR" sz="1600" dirty="0"/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D6E449A-5012-26F4-BE0A-539E5128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Presentation-Abstraction-Control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704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5688632" cy="3751262"/>
          </a:xfrm>
        </p:spPr>
        <p:txBody>
          <a:bodyPr>
            <a:normAutofit lnSpcReduction="10000"/>
          </a:bodyPr>
          <a:lstStyle/>
          <a:p>
            <a:r>
              <a:rPr lang="en-US" altLang="ko-KR" sz="1600" b="1" dirty="0"/>
              <a:t>A software system is decomposed into subroutines hierarchically refined according to the desired functionality of the system</a:t>
            </a:r>
          </a:p>
          <a:p>
            <a:r>
              <a:rPr lang="en-US" altLang="ko-KR" sz="1600" b="1" dirty="0"/>
              <a:t>Components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Procedures (or  functions)</a:t>
            </a:r>
          </a:p>
          <a:p>
            <a:r>
              <a:rPr lang="en-US" altLang="ko-KR" sz="1600" b="1" dirty="0"/>
              <a:t>Connectors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Procedure calls (or functional calls) </a:t>
            </a:r>
          </a:p>
          <a:p>
            <a:r>
              <a:rPr lang="en-US" altLang="ko-KR" sz="1600" b="1" dirty="0"/>
              <a:t>Constraints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Centralized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A single thread of control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Each component in the hierarchy gets this control from its parent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  and passes it along to its children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Main-Subroutine Style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790812" y="206519"/>
            <a:ext cx="1885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 Architecture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08104" y="1475928"/>
            <a:ext cx="3318933" cy="3048000"/>
            <a:chOff x="7450667" y="2957595"/>
            <a:chExt cx="3733800" cy="342900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7984067" y="2957595"/>
              <a:ext cx="27432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/>
                <a:t>Main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7526867" y="4100595"/>
              <a:ext cx="10668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/>
                <a:t>Sub 1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8822267" y="4100595"/>
              <a:ext cx="10668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/>
                <a:t>Sub 2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0117667" y="4100595"/>
              <a:ext cx="10668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/>
                <a:t>Sub 3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8136467" y="3338595"/>
              <a:ext cx="9906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9279467" y="3338595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9508067" y="3338595"/>
              <a:ext cx="12192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50667" y="50911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8136467" y="50911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8822267" y="50911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9584267" y="50911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8517467" y="60055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9279467" y="6005595"/>
              <a:ext cx="533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charset="2"/>
                <a:buChar char="p"/>
                <a:defRPr kumimoji="1" sz="28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charset="2"/>
                <a:buChar char="n"/>
                <a:defRPr kumimoji="1" sz="24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charset="2"/>
                <a:buChar char="p"/>
                <a:defRPr kumimoji="1" sz="2000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charset="2"/>
                <a:buChar char="§"/>
                <a:defRPr kumimoji="1" b="1">
                  <a:solidFill>
                    <a:schemeClr val="tx1"/>
                  </a:solidFill>
                  <a:latin typeface="Arial" charset="0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1200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H="1">
              <a:off x="7679267" y="4481595"/>
              <a:ext cx="3048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8136467" y="4481595"/>
              <a:ext cx="2286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9050867" y="4481595"/>
              <a:ext cx="3048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9508067" y="4481595"/>
              <a:ext cx="3810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8822267" y="5472195"/>
              <a:ext cx="2286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9127067" y="5472195"/>
              <a:ext cx="4572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3452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System</a:t>
            </a:r>
            <a:r>
              <a:rPr lang="ko-KR" altLang="en-US" sz="1800" dirty="0"/>
              <a:t>을 </a:t>
            </a:r>
            <a:r>
              <a:rPr lang="en-US" altLang="ko-KR" sz="1800" dirty="0"/>
              <a:t>subroutine</a:t>
            </a:r>
            <a:r>
              <a:rPr lang="ko-KR" altLang="en-US" sz="1800" dirty="0"/>
              <a:t>으로 분해하고 분해된 </a:t>
            </a:r>
            <a:r>
              <a:rPr lang="en-US" altLang="ko-KR" sz="1800" dirty="0"/>
              <a:t>subroutine</a:t>
            </a:r>
            <a:r>
              <a:rPr lang="ko-KR" altLang="en-US" sz="1800" dirty="0"/>
              <a:t>이 계층적으로 연결된 구조</a:t>
            </a:r>
          </a:p>
          <a:p>
            <a:pPr marL="91463" indent="0">
              <a:buNone/>
            </a:pPr>
            <a:r>
              <a:rPr lang="en-US" altLang="ko-KR" sz="1800" dirty="0"/>
              <a:t>  Main</a:t>
            </a:r>
            <a:r>
              <a:rPr lang="ko-KR" altLang="en-US" sz="1800" dirty="0"/>
              <a:t>이 </a:t>
            </a:r>
            <a:r>
              <a:rPr lang="en-US" altLang="ko-KR" sz="1800" dirty="0"/>
              <a:t>sub procedure</a:t>
            </a:r>
            <a:r>
              <a:rPr lang="ko-KR" altLang="en-US" sz="1800" dirty="0"/>
              <a:t>를 호출하도록 구성되고 하나의 단일 </a:t>
            </a:r>
            <a:r>
              <a:rPr lang="en-US" altLang="ko-KR" sz="1800" dirty="0"/>
              <a:t>thread</a:t>
            </a:r>
            <a:r>
              <a:rPr lang="ko-KR" altLang="en-US" sz="1800" dirty="0"/>
              <a:t>에서 수행됨</a:t>
            </a:r>
            <a:endParaRPr lang="en-US" altLang="ko-KR" sz="1800" dirty="0"/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간단하고 이해하기 쉽다</a:t>
            </a:r>
            <a:r>
              <a:rPr lang="en-US" altLang="ko-KR" sz="1800" dirty="0"/>
              <a:t>. </a:t>
            </a:r>
            <a:r>
              <a:rPr lang="ko-KR" altLang="en-US" sz="1800" dirty="0"/>
              <a:t>작거나 중간크기의 프로그램에 적합</a:t>
            </a:r>
          </a:p>
          <a:p>
            <a:pPr marL="91463" indent="0">
              <a:buNone/>
            </a:pPr>
            <a:r>
              <a:rPr lang="ko-KR" altLang="en-US" sz="1800" dirty="0"/>
              <a:t>   프로그램의 논리를 쉽게 이해할 수 있다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ko-KR" altLang="en-US" sz="1800" dirty="0" err="1"/>
              <a:t>모듈식</a:t>
            </a:r>
            <a:r>
              <a:rPr lang="ko-KR" altLang="en-US" sz="1800" dirty="0"/>
              <a:t> 구조로 인해 테스트가 쉽다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전역적으로 공유하는 데이터를 포함하는 경우가 많다</a:t>
            </a:r>
            <a:r>
              <a:rPr lang="en-US" altLang="ko-KR" sz="1800" dirty="0"/>
              <a:t>. (</a:t>
            </a:r>
            <a:r>
              <a:rPr lang="ko-KR" altLang="en-US" sz="1800" dirty="0"/>
              <a:t>데이터 변경에 취합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Procedure</a:t>
            </a:r>
            <a:r>
              <a:rPr lang="ko-KR" altLang="en-US" sz="1800" dirty="0"/>
              <a:t>간의 결합도가 높다</a:t>
            </a:r>
            <a:r>
              <a:rPr lang="en-US" altLang="ko-KR" sz="1800" dirty="0"/>
              <a:t>.  Procedure</a:t>
            </a:r>
            <a:r>
              <a:rPr lang="ko-KR" altLang="en-US" sz="1800" dirty="0"/>
              <a:t>의 변경이 다른 </a:t>
            </a:r>
            <a:r>
              <a:rPr lang="en-US" altLang="ko-KR" sz="1800" dirty="0"/>
              <a:t>procedure</a:t>
            </a:r>
            <a:r>
              <a:rPr lang="ko-KR" altLang="en-US" sz="1800" dirty="0"/>
              <a:t>에 미치는 영향이 크다</a:t>
            </a:r>
            <a:r>
              <a:rPr lang="en-US" altLang="ko-KR" sz="1800" dirty="0"/>
              <a:t>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EFC7E088-B917-2785-1442-3521D286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Main-Subroutine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965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7205756-9EF3-B7BB-833B-8C956777B7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44" r="15176" b="56328"/>
          <a:stretch/>
        </p:blipFill>
        <p:spPr>
          <a:xfrm>
            <a:off x="5364088" y="2715766"/>
            <a:ext cx="3560789" cy="1800200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/>
              <a:t>An architecture style that </a:t>
            </a:r>
            <a:r>
              <a:rPr lang="en-US" altLang="ko-KR" sz="1800" b="1" dirty="0">
                <a:solidFill>
                  <a:srgbClr val="4156BD"/>
                </a:solidFill>
              </a:rPr>
              <a:t>supports fault tolerance and system reliability.</a:t>
            </a:r>
            <a:endParaRPr lang="en-US" altLang="ko-KR" sz="1600" dirty="0">
              <a:solidFill>
                <a:srgbClr val="4156BD"/>
              </a:solidFill>
            </a:endParaRPr>
          </a:p>
          <a:p>
            <a:r>
              <a:rPr lang="en-US" altLang="ko-KR" sz="1800" b="1" dirty="0"/>
              <a:t>Structure </a:t>
            </a:r>
            <a:endParaRPr lang="en-US" altLang="ko-KR" sz="1600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Slaves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provide to the master </a:t>
            </a:r>
            <a:r>
              <a:rPr lang="en-US" altLang="ko-KR" sz="1400" dirty="0">
                <a:solidFill>
                  <a:srgbClr val="4156BD"/>
                </a:solidFill>
              </a:rPr>
              <a:t>replicated services (the same functional task by different algorithms </a:t>
            </a:r>
            <a:r>
              <a:rPr lang="en-US" altLang="ko-KR" sz="1400" dirty="0"/>
              <a:t>or </a:t>
            </a:r>
            <a:r>
              <a:rPr lang="en-US" altLang="ko-KR" sz="1400" dirty="0">
                <a:solidFill>
                  <a:srgbClr val="4156BD"/>
                </a:solidFill>
              </a:rPr>
              <a:t>a totally different functionality)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  <a:p>
            <a:r>
              <a:rPr lang="en-US" altLang="ko-KR" sz="1800" b="1" dirty="0"/>
              <a:t>Master</a:t>
            </a:r>
            <a:endParaRPr lang="en-US" altLang="ko-KR" sz="1600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configures the invocations of the replicated services and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receives the results back from all slaves and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selects a particular result among slaves by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  certain selection strategies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Master-Slave Style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790812" y="206519"/>
            <a:ext cx="1885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35328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Fault tolerance</a:t>
            </a:r>
            <a:r>
              <a:rPr lang="ko-KR" altLang="en-US" sz="1800" dirty="0"/>
              <a:t>를 제공하여 </a:t>
            </a:r>
            <a:r>
              <a:rPr lang="en-US" altLang="ko-KR" sz="1800" dirty="0"/>
              <a:t>fault</a:t>
            </a:r>
            <a:r>
              <a:rPr lang="ko-KR" altLang="en-US" sz="1800" dirty="0"/>
              <a:t>가 발생하더라도 </a:t>
            </a:r>
            <a:r>
              <a:rPr lang="en-US" altLang="ko-KR" sz="1800" dirty="0"/>
              <a:t>failure</a:t>
            </a:r>
            <a:r>
              <a:rPr lang="ko-KR" altLang="en-US" sz="1800" dirty="0"/>
              <a:t>가 발생하지 않도록 신뢰도를 높이는 </a:t>
            </a:r>
            <a:r>
              <a:rPr lang="en-US" altLang="ko-KR" sz="1800" dirty="0"/>
              <a:t>system</a:t>
            </a:r>
            <a:r>
              <a:rPr lang="ko-KR" altLang="en-US" sz="1800" dirty="0"/>
              <a:t>을 가능하게 함</a:t>
            </a:r>
          </a:p>
          <a:p>
            <a:pPr marL="91463" indent="0">
              <a:buNone/>
            </a:pPr>
            <a:r>
              <a:rPr lang="ko-KR" altLang="en-US" sz="1800" dirty="0"/>
              <a:t>  하나가 문제가 생겨도 다른 </a:t>
            </a:r>
            <a:r>
              <a:rPr lang="en-US" altLang="ko-KR" sz="1800" dirty="0"/>
              <a:t>slave</a:t>
            </a:r>
            <a:r>
              <a:rPr lang="ko-KR" altLang="en-US" sz="1800" dirty="0"/>
              <a:t>를 통해 서비스를 받을 수 있음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Slave component</a:t>
            </a:r>
            <a:r>
              <a:rPr lang="ko-KR" altLang="en-US" sz="1800" dirty="0"/>
              <a:t>에 문제가 생길 경우 마스터는 다른 사용 가능한 </a:t>
            </a:r>
            <a:r>
              <a:rPr lang="en-US" altLang="ko-KR" sz="1800" dirty="0"/>
              <a:t>slave</a:t>
            </a:r>
            <a:r>
              <a:rPr lang="ko-KR" altLang="en-US" sz="1800" dirty="0"/>
              <a:t>에 </a:t>
            </a:r>
            <a:r>
              <a:rPr lang="en-US" altLang="ko-KR" sz="1800" dirty="0"/>
              <a:t>job assig</a:t>
            </a:r>
            <a:r>
              <a:rPr lang="ko-KR" altLang="en-US" sz="1800" dirty="0"/>
              <a:t>을 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Slave</a:t>
            </a:r>
            <a:r>
              <a:rPr lang="ko-KR" altLang="en-US" sz="1800" dirty="0"/>
              <a:t>는 병렬로 처리할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Scalability</a:t>
            </a:r>
            <a:r>
              <a:rPr lang="ko-KR" altLang="en-US" sz="1800" dirty="0"/>
              <a:t>가 좋다 </a:t>
            </a:r>
          </a:p>
          <a:p>
            <a:pPr marL="91463" indent="0">
              <a:buNone/>
            </a:pPr>
            <a:r>
              <a:rPr lang="ko-KR" altLang="en-US" sz="1800" dirty="0"/>
              <a:t>   여러 </a:t>
            </a:r>
            <a:r>
              <a:rPr lang="en-US" altLang="ko-KR" sz="1800" dirty="0"/>
              <a:t>slave </a:t>
            </a:r>
            <a:r>
              <a:rPr lang="ko-KR" altLang="en-US" sz="1800" dirty="0"/>
              <a:t>결과를 취합하여 부정확한 결과를 걸러낼 수 있다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Master component</a:t>
            </a:r>
            <a:r>
              <a:rPr lang="ko-KR" altLang="en-US" sz="1800" dirty="0"/>
              <a:t>가 문제 생기면 전체 </a:t>
            </a:r>
            <a:r>
              <a:rPr lang="en-US" altLang="ko-KR" sz="1800" dirty="0"/>
              <a:t>system</a:t>
            </a:r>
            <a:r>
              <a:rPr lang="ko-KR" altLang="en-US" sz="1800" dirty="0"/>
              <a:t>에 영향을 미친다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Master </a:t>
            </a:r>
            <a:r>
              <a:rPr lang="ko-KR" altLang="en-US" sz="1800" dirty="0"/>
              <a:t>와 </a:t>
            </a:r>
            <a:r>
              <a:rPr lang="en-US" altLang="ko-KR" sz="1800" dirty="0"/>
              <a:t>Slave</a:t>
            </a:r>
            <a:r>
              <a:rPr lang="ko-KR" altLang="en-US" sz="1800" dirty="0"/>
              <a:t>의 </a:t>
            </a:r>
            <a:r>
              <a:rPr lang="en-US" altLang="ko-KR" sz="1800" dirty="0"/>
              <a:t>communication overhead</a:t>
            </a:r>
            <a:r>
              <a:rPr lang="ko-KR" altLang="en-US" sz="1800" dirty="0"/>
              <a:t>가 존재한다</a:t>
            </a:r>
            <a:endParaRPr lang="en-US" altLang="ko-KR" sz="1800" dirty="0"/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386B6A79-A5DB-3728-DC94-D6D14E23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Master-Slave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3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b="1" dirty="0"/>
              <a:t>Component type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Layer : a collection of components at the same level of abstraction</a:t>
            </a:r>
          </a:p>
          <a:p>
            <a:endParaRPr lang="en-US" altLang="ko-KR" dirty="0"/>
          </a:p>
          <a:p>
            <a:r>
              <a:rPr lang="en-US" altLang="ko-KR" sz="1600" b="1" dirty="0"/>
              <a:t>Connector type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Procedure calls</a:t>
            </a:r>
          </a:p>
          <a:p>
            <a:endParaRPr lang="en-US" altLang="ko-KR" dirty="0"/>
          </a:p>
          <a:p>
            <a:r>
              <a:rPr lang="en-US" altLang="ko-KR" sz="1600" b="1" dirty="0"/>
              <a:t>Constraints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A layer can see and access only the layers below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Layered Style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790812" y="206519"/>
            <a:ext cx="1885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 Architecture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5421285" y="1880819"/>
            <a:ext cx="3023702" cy="2143125"/>
            <a:chOff x="5152512" y="1880819"/>
            <a:chExt cx="3292475" cy="2333625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152512" y="1880819"/>
              <a:ext cx="32766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latin typeface="굴림" panose="020B0600000101010101" pitchFamily="50" charset="-127"/>
                </a:rPr>
                <a:t>User Interface Layer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5154100" y="2584082"/>
              <a:ext cx="32766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latin typeface="굴림" panose="020B0600000101010101" pitchFamily="50" charset="-127"/>
                </a:rPr>
                <a:t>System Service Layer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5168387" y="3241307"/>
              <a:ext cx="32766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latin typeface="굴림" panose="020B0600000101010101" pitchFamily="50" charset="-127"/>
                </a:rPr>
                <a:t>Basic Utility Layer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5168387" y="3833444"/>
              <a:ext cx="32766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kumimoji="1" sz="28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 b="0">
                  <a:latin typeface="굴림" panose="020B0600000101010101" pitchFamily="50" charset="-127"/>
                </a:rPr>
                <a:t>Kernel Layer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6768587" y="2269757"/>
              <a:ext cx="0" cy="2968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6760650" y="2987307"/>
              <a:ext cx="0" cy="25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6768587" y="3622307"/>
              <a:ext cx="0" cy="211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64667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 </a:t>
            </a:r>
            <a:r>
              <a:rPr lang="ko-KR" altLang="en-US" sz="1800" dirty="0"/>
              <a:t>상위 </a:t>
            </a:r>
            <a:r>
              <a:rPr lang="en-US" altLang="ko-KR" sz="1800" dirty="0"/>
              <a:t>layer</a:t>
            </a:r>
            <a:r>
              <a:rPr lang="ko-KR" altLang="en-US" sz="1800" dirty="0"/>
              <a:t>는 하위 </a:t>
            </a:r>
            <a:r>
              <a:rPr lang="en-US" altLang="ko-KR" sz="1800" dirty="0"/>
              <a:t>layer </a:t>
            </a:r>
            <a:r>
              <a:rPr lang="ko-KR" altLang="en-US" sz="1800" dirty="0"/>
              <a:t>이외에 다른 </a:t>
            </a:r>
            <a:r>
              <a:rPr lang="en-US" altLang="ko-KR" sz="1800" dirty="0"/>
              <a:t>layer</a:t>
            </a:r>
            <a:r>
              <a:rPr lang="ko-KR" altLang="en-US" sz="1800" dirty="0"/>
              <a:t>는 사용할 수 없다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독립성 </a:t>
            </a:r>
            <a:r>
              <a:rPr lang="en-US" altLang="ko-KR" sz="1800" dirty="0"/>
              <a:t>(</a:t>
            </a:r>
            <a:r>
              <a:rPr lang="ko-KR" altLang="en-US" sz="1800" dirty="0"/>
              <a:t>각 </a:t>
            </a:r>
            <a:r>
              <a:rPr lang="en-US" altLang="ko-KR" sz="1800" dirty="0"/>
              <a:t>layer</a:t>
            </a:r>
            <a:r>
              <a:rPr lang="ko-KR" altLang="en-US" sz="1800" dirty="0"/>
              <a:t>가 독립적으로 구현 될 수 있다</a:t>
            </a:r>
            <a:r>
              <a:rPr lang="en-US" altLang="ko-KR" sz="1800" dirty="0"/>
              <a:t>)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테스트도 독립적으로 이루어 질 수 있다</a:t>
            </a:r>
            <a:r>
              <a:rPr lang="en-US" altLang="ko-KR" sz="1800" dirty="0"/>
              <a:t>.</a:t>
            </a:r>
          </a:p>
          <a:p>
            <a:pPr marL="91463" indent="0">
              <a:buNone/>
            </a:pPr>
            <a:r>
              <a:rPr lang="en-US" altLang="ko-KR" sz="1800" dirty="0"/>
              <a:t>    </a:t>
            </a:r>
            <a:r>
              <a:rPr lang="ko-KR" altLang="en-US" sz="1800" dirty="0"/>
              <a:t>각 </a:t>
            </a:r>
            <a:r>
              <a:rPr lang="en-US" altLang="ko-KR" sz="1800" dirty="0"/>
              <a:t>layer</a:t>
            </a:r>
            <a:r>
              <a:rPr lang="ko-KR" altLang="en-US" sz="1800" dirty="0"/>
              <a:t>가 </a:t>
            </a:r>
            <a:r>
              <a:rPr lang="en-US" altLang="ko-KR" sz="1800" dirty="0"/>
              <a:t>data</a:t>
            </a:r>
            <a:r>
              <a:rPr lang="ko-KR" altLang="en-US" sz="1800" dirty="0"/>
              <a:t>를 다른 </a:t>
            </a:r>
            <a:r>
              <a:rPr lang="en-US" altLang="ko-KR" sz="1800" dirty="0"/>
              <a:t>layer</a:t>
            </a:r>
            <a:r>
              <a:rPr lang="ko-KR" altLang="en-US" sz="1800" dirty="0"/>
              <a:t>에 노출하지 않을 수 있어 보안성이 좋다</a:t>
            </a:r>
          </a:p>
          <a:p>
            <a:pPr marL="91463" indent="0">
              <a:buNone/>
            </a:pPr>
            <a:r>
              <a:rPr lang="ko-KR" altLang="en-US" sz="1800" dirty="0"/>
              <a:t>    각 </a:t>
            </a:r>
            <a:r>
              <a:rPr lang="en-US" altLang="ko-KR" sz="1800" dirty="0"/>
              <a:t>layer</a:t>
            </a:r>
            <a:r>
              <a:rPr lang="ko-KR" altLang="en-US" sz="1800" dirty="0"/>
              <a:t>가 재사용성이 좋다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Layer</a:t>
            </a:r>
            <a:r>
              <a:rPr lang="ko-KR" altLang="en-US" sz="1800" dirty="0"/>
              <a:t>수가 너무 많으면 성능 저하가 있을 수 있다</a:t>
            </a:r>
          </a:p>
          <a:p>
            <a:pPr marL="91463" indent="0">
              <a:buNone/>
            </a:pPr>
            <a:r>
              <a:rPr lang="ko-KR" altLang="en-US" sz="1800" dirty="0"/>
              <a:t>   최적의 </a:t>
            </a:r>
            <a:r>
              <a:rPr lang="en-US" altLang="ko-KR" sz="1800" dirty="0"/>
              <a:t>layer</a:t>
            </a:r>
            <a:r>
              <a:rPr lang="ko-KR" altLang="en-US" sz="1800" dirty="0"/>
              <a:t>수를 결정하기가 쉽지 않다</a:t>
            </a:r>
          </a:p>
          <a:p>
            <a:pPr marL="91463" indent="0">
              <a:buNone/>
            </a:pPr>
            <a:r>
              <a:rPr lang="ko-KR" altLang="en-US" sz="1800" dirty="0"/>
              <a:t>   간단한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은 오히려 복잡도가 증가한다</a:t>
            </a:r>
            <a:r>
              <a:rPr lang="en-US" altLang="ko-KR" sz="1800" dirty="0"/>
              <a:t>..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D0924B05-B712-F508-7B19-5AB07DF4B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Layered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342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600" b="1" dirty="0"/>
              <a:t>A virtual machine is </a:t>
            </a:r>
            <a:r>
              <a:rPr lang="en-US" altLang="ko-KR" sz="1600" b="1" dirty="0">
                <a:solidFill>
                  <a:srgbClr val="4156BD"/>
                </a:solidFill>
              </a:rPr>
              <a:t>built up on an existing system </a:t>
            </a:r>
            <a:r>
              <a:rPr lang="en-US" altLang="ko-KR" sz="1600" b="1" dirty="0"/>
              <a:t>and provides </a:t>
            </a:r>
            <a:r>
              <a:rPr lang="en-US" altLang="ko-KR" sz="1600" b="1" dirty="0">
                <a:solidFill>
                  <a:srgbClr val="4156BD"/>
                </a:solidFill>
              </a:rPr>
              <a:t>a virtual abstraction, a set of attributes, and operations.</a:t>
            </a:r>
          </a:p>
          <a:p>
            <a:r>
              <a:rPr lang="en-US" altLang="ko-KR" sz="1600" b="1" dirty="0"/>
              <a:t>Structure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Divide a system into three parts: existing platform, </a:t>
            </a:r>
            <a:r>
              <a:rPr lang="en-US" altLang="ko-KR" sz="1600" dirty="0">
                <a:solidFill>
                  <a:srgbClr val="4156BD"/>
                </a:solidFill>
              </a:rPr>
              <a:t>virtual machine</a:t>
            </a:r>
            <a:r>
              <a:rPr lang="en-US" altLang="ko-KR" sz="1600" dirty="0"/>
              <a:t> and application</a:t>
            </a:r>
          </a:p>
          <a:p>
            <a:endParaRPr lang="en-US" altLang="ko-KR" sz="1600" b="1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Machine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790812" y="206519"/>
            <a:ext cx="1885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Hierarchical Architecture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316545" y="2715766"/>
            <a:ext cx="2479591" cy="1863081"/>
            <a:chOff x="3131840" y="2716765"/>
            <a:chExt cx="2479591" cy="1863081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3131842" y="4019673"/>
              <a:ext cx="2479589" cy="56017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Existing platform</a:t>
              </a:r>
              <a:endParaRPr kumimoji="1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3131841" y="3368219"/>
              <a:ext cx="2479589" cy="560173"/>
            </a:xfrm>
            <a:prstGeom prst="rect">
              <a:avLst/>
            </a:prstGeom>
            <a:solidFill>
              <a:srgbClr val="4156B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굴림" pitchFamily="50" charset="-127"/>
                </a:rPr>
                <a:t>Virtual Machine</a:t>
              </a:r>
              <a:endParaRPr kumimoji="1" lang="ko-KR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3131840" y="2716765"/>
              <a:ext cx="2479589" cy="56017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Application</a:t>
              </a:r>
              <a:endParaRPr kumimoji="1" lang="ko-K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47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Virtual machine</a:t>
            </a:r>
            <a:r>
              <a:rPr lang="ko-KR" altLang="en-US" sz="1800" dirty="0"/>
              <a:t>은 기존의 </a:t>
            </a:r>
            <a:r>
              <a:rPr lang="en-US" altLang="ko-KR" sz="1800" dirty="0"/>
              <a:t>system</a:t>
            </a:r>
            <a:r>
              <a:rPr lang="ko-KR" altLang="en-US" sz="1800" dirty="0"/>
              <a:t>위에 추가적으로 구현된 </a:t>
            </a:r>
            <a:r>
              <a:rPr lang="en-US" altLang="ko-KR" sz="1800" dirty="0"/>
              <a:t>layer</a:t>
            </a:r>
          </a:p>
          <a:p>
            <a:pPr marL="91463" indent="0">
              <a:buNone/>
            </a:pPr>
            <a:r>
              <a:rPr lang="ko-KR" altLang="en-US" sz="1800" dirty="0"/>
              <a:t>  그 위의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에 </a:t>
            </a:r>
            <a:r>
              <a:rPr lang="en-US" altLang="ko-KR" sz="1800" dirty="0"/>
              <a:t>virtual</a:t>
            </a:r>
            <a:r>
              <a:rPr lang="ko-KR" altLang="en-US" sz="1800" dirty="0"/>
              <a:t>한 </a:t>
            </a:r>
            <a:r>
              <a:rPr lang="en-US" altLang="ko-KR" sz="1800" dirty="0"/>
              <a:t>abstraction</a:t>
            </a:r>
            <a:r>
              <a:rPr lang="ko-KR" altLang="en-US" sz="1800" dirty="0"/>
              <a:t>을 제공한다</a:t>
            </a:r>
            <a:r>
              <a:rPr lang="en-US" altLang="ko-KR" sz="1800" dirty="0"/>
              <a:t>. 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Platform dependent</a:t>
            </a:r>
            <a:r>
              <a:rPr lang="ko-KR" altLang="en-US" sz="1800" dirty="0"/>
              <a:t>한 부분을 감추기 때문에 이식성이 좋다</a:t>
            </a:r>
          </a:p>
          <a:p>
            <a:pPr marL="91463" indent="0">
              <a:buNone/>
            </a:pPr>
            <a:r>
              <a:rPr lang="ko-KR" altLang="en-US" sz="1800" dirty="0"/>
              <a:t>   상위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을 쉽게 개발할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재난 상황에서의 </a:t>
            </a:r>
            <a:r>
              <a:rPr lang="en-US" altLang="ko-KR" sz="1800" dirty="0"/>
              <a:t>simulation</a:t>
            </a:r>
            <a:r>
              <a:rPr lang="ko-KR" altLang="en-US" sz="1800" dirty="0"/>
              <a:t>을 잘 할 수 있다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event listener</a:t>
            </a:r>
            <a:r>
              <a:rPr lang="ko-KR" altLang="en-US" sz="1800" dirty="0"/>
              <a:t>의 처리 여부 </a:t>
            </a:r>
            <a:r>
              <a:rPr lang="en-US" altLang="ko-KR" sz="1800" dirty="0"/>
              <a:t>, </a:t>
            </a:r>
            <a:r>
              <a:rPr lang="ko-KR" altLang="en-US" sz="1800" dirty="0"/>
              <a:t>순서를 알기 어렵다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Overhead</a:t>
            </a:r>
            <a:r>
              <a:rPr lang="ko-KR" altLang="en-US" sz="1800" dirty="0"/>
              <a:t>가 존재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message </a:t>
            </a:r>
            <a:r>
              <a:rPr lang="ko-KR" altLang="en-US" sz="1800" dirty="0"/>
              <a:t>기반의 방법 보다 </a:t>
            </a:r>
            <a:r>
              <a:rPr lang="en-US" altLang="ko-KR" sz="1800" dirty="0"/>
              <a:t>source</a:t>
            </a:r>
            <a:r>
              <a:rPr lang="ko-KR" altLang="en-US" sz="1800" dirty="0"/>
              <a:t>와 </a:t>
            </a:r>
            <a:r>
              <a:rPr lang="en-US" altLang="ko-KR" sz="1800" dirty="0"/>
              <a:t>listener</a:t>
            </a:r>
            <a:r>
              <a:rPr lang="ko-KR" altLang="en-US" sz="1800" dirty="0"/>
              <a:t>의 관계의 </a:t>
            </a:r>
            <a:r>
              <a:rPr lang="en-US" altLang="ko-KR" sz="1800" dirty="0"/>
              <a:t>dependency</a:t>
            </a:r>
            <a:r>
              <a:rPr lang="ko-KR" altLang="en-US" sz="1800" dirty="0"/>
              <a:t>가 상대적으로 깊다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033129F6-4907-B80B-339F-EF1A56AD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Virtual Machine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652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4752528" cy="3751262"/>
          </a:xfrm>
        </p:spPr>
        <p:txBody>
          <a:bodyPr/>
          <a:lstStyle/>
          <a:p>
            <a:r>
              <a:rPr lang="en-US" altLang="ko-KR" sz="1800" b="1" dirty="0"/>
              <a:t>Core System</a:t>
            </a:r>
            <a:endParaRPr lang="en-US" altLang="ko-KR" sz="1600" b="1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minimal functionality required to run the system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800" b="1" dirty="0"/>
              <a:t>Plug-in Component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standalone, independent components that contain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specialized processing, additional features to  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enhance or extend the core system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Microkernel Style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FC1013-BE93-B44F-8D01-0F24028C9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506925"/>
            <a:ext cx="4104456" cy="236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213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Monolithic </a:t>
            </a:r>
            <a:r>
              <a:rPr lang="ko-KR" altLang="en-US" sz="1800" dirty="0"/>
              <a:t>커널은 </a:t>
            </a:r>
            <a:r>
              <a:rPr lang="en-US" altLang="ko-KR" sz="1800" dirty="0"/>
              <a:t>application</a:t>
            </a:r>
            <a:r>
              <a:rPr lang="ko-KR" altLang="en-US" sz="1800" dirty="0"/>
              <a:t>을 제외한 전체 모듈을 </a:t>
            </a:r>
            <a:r>
              <a:rPr lang="en-US" altLang="ko-KR" sz="1800" dirty="0"/>
              <a:t>kernel</a:t>
            </a:r>
            <a:r>
              <a:rPr lang="ko-KR" altLang="en-US" sz="1800" dirty="0"/>
              <a:t>이 지니고 있음 </a:t>
            </a:r>
            <a:r>
              <a:rPr lang="en-US" altLang="ko-KR" sz="1800" dirty="0"/>
              <a:t>(</a:t>
            </a:r>
            <a:r>
              <a:rPr lang="ko-KR" altLang="en-US" sz="1800" dirty="0"/>
              <a:t>속도가 빠름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Micro </a:t>
            </a:r>
            <a:r>
              <a:rPr lang="ko-KR" altLang="en-US" sz="1800" dirty="0"/>
              <a:t>커널은 필수요소만 커널로 제공하고 기타 모듈은 필요에 따라 별도로 제공 </a:t>
            </a:r>
            <a:r>
              <a:rPr lang="en-US" altLang="ko-KR" sz="1800" dirty="0"/>
              <a:t>(overhead </a:t>
            </a:r>
            <a:r>
              <a:rPr lang="ko-KR" altLang="en-US" sz="1800" dirty="0"/>
              <a:t>가 있음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ko-KR" altLang="en-US" sz="1800" dirty="0"/>
              <a:t>  중요부분은 </a:t>
            </a:r>
            <a:r>
              <a:rPr lang="en-US" altLang="ko-KR" sz="1800" dirty="0"/>
              <a:t>core system, </a:t>
            </a:r>
            <a:r>
              <a:rPr lang="ko-KR" altLang="en-US" sz="1800" dirty="0"/>
              <a:t>기타 모듈은 </a:t>
            </a:r>
            <a:r>
              <a:rPr lang="en-US" altLang="ko-KR" sz="1800" dirty="0" err="1"/>
              <a:t>pulg</a:t>
            </a:r>
            <a:r>
              <a:rPr lang="en-US" altLang="ko-KR" sz="1800" dirty="0"/>
              <a:t> in </a:t>
            </a:r>
            <a:r>
              <a:rPr lang="ko-KR" altLang="en-US" sz="1800" dirty="0"/>
              <a:t>형태로 제공</a:t>
            </a:r>
          </a:p>
          <a:p>
            <a:pPr marL="91463" indent="0">
              <a:buNone/>
            </a:pPr>
            <a:r>
              <a:rPr lang="en-US" altLang="ko-KR" sz="1800" dirty="0"/>
              <a:t>   Micro kernel</a:t>
            </a:r>
            <a:r>
              <a:rPr lang="ko-KR" altLang="en-US" sz="1800" dirty="0"/>
              <a:t>은 핵심적인 최소 모듈만 포함해야 함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확장성과 유연성 </a:t>
            </a:r>
            <a:r>
              <a:rPr lang="en-US" altLang="ko-KR" sz="1800" dirty="0"/>
              <a:t>(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external serve</a:t>
            </a:r>
            <a:r>
              <a:rPr lang="ko-KR" altLang="en-US" sz="1800" dirty="0"/>
              <a:t>를 구현하면 새로운 </a:t>
            </a:r>
            <a:r>
              <a:rPr lang="en-US" altLang="ko-KR" sz="1800" dirty="0"/>
              <a:t>view</a:t>
            </a:r>
            <a:r>
              <a:rPr lang="ko-KR" altLang="en-US" sz="1800" dirty="0"/>
              <a:t>를 구현할 수 있고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새로운 기능이 필요하면 </a:t>
            </a:r>
            <a:r>
              <a:rPr lang="en-US" altLang="ko-KR" sz="1800" dirty="0"/>
              <a:t>internal server</a:t>
            </a:r>
            <a:r>
              <a:rPr lang="ko-KR" altLang="en-US" sz="1800" dirty="0"/>
              <a:t>를 추가할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가용성 측면에서는 분산 환경에서 </a:t>
            </a:r>
            <a:r>
              <a:rPr lang="ko-KR" altLang="en-US" sz="1800" dirty="0" err="1"/>
              <a:t>동작시킬</a:t>
            </a:r>
            <a:r>
              <a:rPr lang="ko-KR" altLang="en-US" sz="1800" dirty="0"/>
              <a:t> 수 있어 하나의 </a:t>
            </a:r>
            <a:r>
              <a:rPr lang="en-US" altLang="ko-KR" sz="1800" dirty="0"/>
              <a:t>internal server</a:t>
            </a:r>
            <a:r>
              <a:rPr lang="ko-KR" altLang="en-US" sz="1800" dirty="0"/>
              <a:t>의 문제가 전체 시스템에 영향을 미치는 </a:t>
            </a:r>
            <a:endParaRPr lang="en-US" altLang="ko-KR" sz="1800" dirty="0"/>
          </a:p>
          <a:p>
            <a:pPr marL="91463" indent="0">
              <a:buNone/>
            </a:pPr>
            <a:r>
              <a:rPr lang="ko-KR" altLang="en-US" sz="1800" dirty="0"/>
              <a:t>   것을 막을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구현과 설계가 복잡하다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951752BC-26D7-9687-37E5-A3DAA06E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Microkernel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04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MVC Style</a:t>
            </a:r>
            <a:r>
              <a:rPr lang="ko-KR" altLang="en-US" dirty="0"/>
              <a:t>의 </a:t>
            </a:r>
            <a:r>
              <a:rPr lang="en-US" altLang="ko-KR" dirty="0"/>
              <a:t>Variations</a:t>
            </a:r>
            <a:endParaRPr lang="ko-KR" altLang="en-US" dirty="0"/>
          </a:p>
        </p:txBody>
      </p:sp>
      <p:sp>
        <p:nvSpPr>
          <p:cNvPr id="13" name="내용 개체 틀 1"/>
          <p:cNvSpPr>
            <a:spLocks noGrp="1"/>
          </p:cNvSpPr>
          <p:nvPr>
            <p:ph idx="1"/>
          </p:nvPr>
        </p:nvSpPr>
        <p:spPr>
          <a:xfrm>
            <a:off x="251520" y="771550"/>
            <a:ext cx="8755590" cy="424847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800" b="1" dirty="0"/>
              <a:t>Model-View-Presenter (MVP)</a:t>
            </a:r>
            <a:endParaRPr lang="en-US" altLang="ko-KR" sz="1600" b="1" dirty="0"/>
          </a:p>
          <a:p>
            <a:pPr marL="91463" lvl="1" indent="0">
              <a:lnSpc>
                <a:spcPct val="160000"/>
              </a:lnSpc>
              <a:buNone/>
            </a:pPr>
            <a:r>
              <a:rPr lang="en-US" altLang="ko-KR" sz="1600" dirty="0"/>
              <a:t> - Pros: View-Model </a:t>
            </a:r>
            <a:r>
              <a:rPr lang="ko-KR" altLang="en-US" sz="1600" dirty="0"/>
              <a:t>간 의존성 제거</a:t>
            </a:r>
            <a:endParaRPr lang="en-US" altLang="ko-KR" sz="1600" dirty="0"/>
          </a:p>
          <a:p>
            <a:pPr marL="91463" lvl="1" indent="0">
              <a:lnSpc>
                <a:spcPct val="160000"/>
              </a:lnSpc>
              <a:buNone/>
            </a:pPr>
            <a:r>
              <a:rPr lang="en-US" altLang="ko-KR" sz="1600" dirty="0"/>
              <a:t> - Cons: View-Presenter </a:t>
            </a:r>
            <a:r>
              <a:rPr lang="ko-KR" altLang="en-US" sz="1600" dirty="0"/>
              <a:t>간 의존성↑</a:t>
            </a:r>
            <a:br>
              <a:rPr lang="en-US" altLang="ko-KR" sz="1600" dirty="0"/>
            </a:br>
            <a:r>
              <a:rPr lang="en-US" altLang="ko-KR" sz="1600" dirty="0"/>
              <a:t>    * View-Presenter 1:1 </a:t>
            </a:r>
            <a:r>
              <a:rPr lang="ko-KR" altLang="en-US" sz="1600" dirty="0"/>
              <a:t>관계</a:t>
            </a:r>
            <a:endParaRPr lang="en-US" altLang="ko-KR" sz="1600" dirty="0"/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  <a:p>
            <a:r>
              <a:rPr lang="en-US" altLang="ko-KR" sz="1800" b="1" dirty="0"/>
              <a:t>Model-View-View Model (MVVM)</a:t>
            </a:r>
            <a:endParaRPr lang="en-US" altLang="ko-KR" sz="1600" b="1" dirty="0"/>
          </a:p>
          <a:p>
            <a:pPr marL="91463" lvl="1" indent="0">
              <a:lnSpc>
                <a:spcPct val="150000"/>
              </a:lnSpc>
              <a:buNone/>
            </a:pPr>
            <a:r>
              <a:rPr lang="en-US" altLang="ko-KR" sz="1600" dirty="0"/>
              <a:t> - Pros: View-Model </a:t>
            </a:r>
            <a:r>
              <a:rPr lang="ko-KR" altLang="en-US" sz="1600" dirty="0"/>
              <a:t>간 의존성 제거 </a:t>
            </a:r>
            <a:r>
              <a:rPr lang="en-US" altLang="ko-KR" sz="1600" dirty="0"/>
              <a:t> (Command </a:t>
            </a:r>
            <a:r>
              <a:rPr lang="ko-KR" altLang="en-US" sz="1600" dirty="0"/>
              <a:t>패턴</a:t>
            </a:r>
            <a:r>
              <a:rPr lang="en-US" altLang="ko-KR" sz="1600" dirty="0"/>
              <a:t>, Data Binding </a:t>
            </a:r>
            <a:r>
              <a:rPr lang="ko-KR" altLang="en-US" sz="1600" dirty="0"/>
              <a:t>이용</a:t>
            </a:r>
            <a:r>
              <a:rPr lang="en-US" altLang="ko-KR" sz="1600" dirty="0"/>
              <a:t>)</a:t>
            </a:r>
          </a:p>
          <a:p>
            <a:pPr marL="91463" lvl="1" indent="0">
              <a:lnSpc>
                <a:spcPct val="150000"/>
              </a:lnSpc>
              <a:buNone/>
            </a:pPr>
            <a:r>
              <a:rPr lang="en-US" altLang="ko-KR" sz="1600" dirty="0"/>
              <a:t> - Cons: View Model</a:t>
            </a:r>
            <a:r>
              <a:rPr lang="ko-KR" altLang="en-US" sz="1600" dirty="0"/>
              <a:t> 설계 난이도↑</a:t>
            </a:r>
            <a:endParaRPr lang="en-US" altLang="ko-KR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915566"/>
            <a:ext cx="4723142" cy="185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81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E9243-87B7-4FFA-0874-F39C72F83809}"/>
              </a:ext>
            </a:extLst>
          </p:cNvPr>
          <p:cNvSpPr txBox="1"/>
          <p:nvPr/>
        </p:nvSpPr>
        <p:spPr>
          <a:xfrm>
            <a:off x="196268" y="576424"/>
            <a:ext cx="84302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구조 </a:t>
            </a:r>
            <a:endParaRPr lang="en-US" altLang="ko-KR" sz="1400" b="1" dirty="0"/>
          </a:p>
          <a:p>
            <a:r>
              <a:rPr lang="ko-KR" altLang="en-US" sz="1400" dirty="0" err="1"/>
              <a:t>Model</a:t>
            </a:r>
            <a:r>
              <a:rPr lang="ko-KR" altLang="en-US" sz="1400" dirty="0"/>
              <a:t> : 어플리케이션에서 사용되는 데이터와 그 데이터를 처리하는 부분입니다.</a:t>
            </a:r>
          </a:p>
          <a:p>
            <a:r>
              <a:rPr lang="ko-KR" altLang="en-US" sz="1400" dirty="0" err="1"/>
              <a:t>View</a:t>
            </a:r>
            <a:r>
              <a:rPr lang="ko-KR" altLang="en-US" sz="1400" dirty="0"/>
              <a:t> : 사용자에서 보여지는 UI 부분입니다.</a:t>
            </a:r>
          </a:p>
          <a:p>
            <a:r>
              <a:rPr lang="ko-KR" altLang="en-US" sz="1400" dirty="0" err="1"/>
              <a:t>Controller</a:t>
            </a:r>
            <a:r>
              <a:rPr lang="ko-KR" altLang="en-US" sz="1400" dirty="0"/>
              <a:t> : 사용자의 입력(</a:t>
            </a:r>
            <a:r>
              <a:rPr lang="ko-KR" altLang="en-US" sz="1400" dirty="0" err="1"/>
              <a:t>Action</a:t>
            </a:r>
            <a:r>
              <a:rPr lang="ko-KR" altLang="en-US" sz="1400" dirty="0"/>
              <a:t>)을 받고 처리하는 부분입니다.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/>
              <a:t>2. </a:t>
            </a:r>
            <a:r>
              <a:rPr lang="ko-KR" altLang="en-US" sz="1400" b="1" dirty="0"/>
              <a:t>동작</a:t>
            </a:r>
            <a:endParaRPr lang="en-US" altLang="ko-KR" sz="1400" b="1" dirty="0"/>
          </a:p>
          <a:p>
            <a:r>
              <a:rPr lang="ko-KR" altLang="en-US" sz="1400" dirty="0"/>
              <a:t>사용자의 </a:t>
            </a:r>
            <a:r>
              <a:rPr lang="en-US" altLang="ko-KR" sz="1400" dirty="0"/>
              <a:t>Action</a:t>
            </a:r>
            <a:r>
              <a:rPr lang="ko-KR" altLang="en-US" sz="1400" dirty="0"/>
              <a:t>들은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에 들어오게 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Controller</a:t>
            </a:r>
            <a:r>
              <a:rPr lang="ko-KR" altLang="en-US" sz="1400" dirty="0"/>
              <a:t>는 사용자의 </a:t>
            </a:r>
            <a:r>
              <a:rPr lang="en-US" altLang="ko-KR" sz="1400" dirty="0"/>
              <a:t>Action</a:t>
            </a:r>
            <a:r>
              <a:rPr lang="ko-KR" altLang="en-US" sz="1400" dirty="0"/>
              <a:t>를 확인하고</a:t>
            </a:r>
            <a:r>
              <a:rPr lang="en-US" altLang="ko-KR" sz="1400" dirty="0"/>
              <a:t>, Model</a:t>
            </a:r>
            <a:r>
              <a:rPr lang="ko-KR" altLang="en-US" sz="1400" dirty="0"/>
              <a:t>을 업데이트합니다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Controller</a:t>
            </a:r>
            <a:r>
              <a:rPr lang="ko-KR" altLang="en-US" sz="1400" dirty="0"/>
              <a:t>는 </a:t>
            </a:r>
            <a:r>
              <a:rPr lang="en-US" altLang="ko-KR" sz="1400" dirty="0"/>
              <a:t>Model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나타내줄</a:t>
            </a:r>
            <a:r>
              <a:rPr lang="ko-KR" altLang="en-US" sz="1400" dirty="0"/>
              <a:t> </a:t>
            </a:r>
            <a:r>
              <a:rPr lang="en-US" altLang="ko-KR" sz="1400" dirty="0"/>
              <a:t>View</a:t>
            </a:r>
            <a:r>
              <a:rPr lang="ko-KR" altLang="en-US" sz="1400" dirty="0"/>
              <a:t>를 선택합니다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View</a:t>
            </a:r>
            <a:r>
              <a:rPr lang="ko-KR" altLang="en-US" sz="1400" dirty="0"/>
              <a:t>는 </a:t>
            </a:r>
            <a:r>
              <a:rPr lang="en-US" altLang="ko-KR" sz="1400" dirty="0"/>
              <a:t>Model</a:t>
            </a:r>
            <a:r>
              <a:rPr lang="ko-KR" altLang="en-US" sz="1400" dirty="0"/>
              <a:t>을 이용하여 화면을 나타냅니다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3. </a:t>
            </a:r>
            <a:r>
              <a:rPr lang="ko-KR" altLang="en-US" sz="1400" b="1" dirty="0"/>
              <a:t>특징</a:t>
            </a:r>
            <a:endParaRPr lang="en-US" altLang="ko-KR" sz="1400" b="1" dirty="0"/>
          </a:p>
          <a:p>
            <a:r>
              <a:rPr lang="en-US" altLang="ko-KR" sz="1400" dirty="0"/>
              <a:t>Controller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여러개의</a:t>
            </a:r>
            <a:r>
              <a:rPr lang="ko-KR" altLang="en-US" sz="1400" dirty="0"/>
              <a:t> </a:t>
            </a:r>
            <a:r>
              <a:rPr lang="en-US" altLang="ko-KR" sz="1400" dirty="0"/>
              <a:t>View</a:t>
            </a:r>
            <a:r>
              <a:rPr lang="ko-KR" altLang="en-US" sz="1400" dirty="0"/>
              <a:t>를 선택할 수 있는 </a:t>
            </a:r>
            <a:r>
              <a:rPr lang="en-US" altLang="ko-KR" sz="1400" dirty="0"/>
              <a:t>1:n </a:t>
            </a:r>
            <a:r>
              <a:rPr lang="ko-KR" altLang="en-US" sz="1400" dirty="0"/>
              <a:t>구조입니다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Controller</a:t>
            </a:r>
            <a:r>
              <a:rPr lang="ko-KR" altLang="en-US" sz="1400" dirty="0"/>
              <a:t>는 </a:t>
            </a:r>
            <a:r>
              <a:rPr lang="en-US" altLang="ko-KR" sz="1400" dirty="0"/>
              <a:t>View</a:t>
            </a:r>
            <a:r>
              <a:rPr lang="ko-KR" altLang="en-US" sz="1400" dirty="0"/>
              <a:t>를 선택할 뿐 직접 업데이트 하지 않습니다</a:t>
            </a:r>
            <a:r>
              <a:rPr lang="en-US" altLang="ko-KR" sz="1400" dirty="0"/>
              <a:t>. (View</a:t>
            </a:r>
            <a:r>
              <a:rPr lang="ko-KR" altLang="en-US" sz="1400" dirty="0"/>
              <a:t>는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를 알지 못합니다</a:t>
            </a:r>
            <a:r>
              <a:rPr lang="en-US" altLang="ko-KR" sz="1400" dirty="0"/>
              <a:t>.)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4. </a:t>
            </a:r>
            <a:r>
              <a:rPr lang="ko-KR" altLang="en-US" sz="1400" b="1" dirty="0"/>
              <a:t>장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단점</a:t>
            </a:r>
            <a:endParaRPr lang="en-US" altLang="ko-KR" sz="1400" b="1" dirty="0"/>
          </a:p>
          <a:p>
            <a:r>
              <a:rPr lang="ko-KR" altLang="en-US" sz="1400" dirty="0"/>
              <a:t>장점 </a:t>
            </a:r>
            <a:r>
              <a:rPr lang="en-US" altLang="ko-KR" sz="1400" dirty="0"/>
              <a:t>: MVC </a:t>
            </a:r>
            <a:r>
              <a:rPr lang="ko-KR" altLang="en-US" sz="1400" dirty="0"/>
              <a:t>패턴의 장점은 널리 사용되고 있는 패턴이라는 점에 걸맞게 가장 단순합니다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단순하다 보니 보편적으로 많이 사용되는 </a:t>
            </a:r>
            <a:r>
              <a:rPr lang="ko-KR" altLang="en-US" sz="1400" dirty="0" err="1"/>
              <a:t>디자인패턴입니다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단점 </a:t>
            </a:r>
            <a:r>
              <a:rPr lang="en-US" altLang="ko-KR" sz="1400" dirty="0"/>
              <a:t>: </a:t>
            </a:r>
            <a:r>
              <a:rPr lang="en-US" altLang="ko-KR" sz="1400" dirty="0">
                <a:highlight>
                  <a:srgbClr val="FFFF00"/>
                </a:highlight>
              </a:rPr>
              <a:t>MVC </a:t>
            </a:r>
            <a:r>
              <a:rPr lang="ko-KR" altLang="en-US" sz="1400" dirty="0">
                <a:highlight>
                  <a:srgbClr val="FFFF00"/>
                </a:highlight>
              </a:rPr>
              <a:t>패턴의 단점은 </a:t>
            </a:r>
            <a:r>
              <a:rPr lang="en-US" altLang="ko-KR" sz="1400" dirty="0">
                <a:highlight>
                  <a:srgbClr val="FFFF00"/>
                </a:highlight>
              </a:rPr>
              <a:t>View</a:t>
            </a:r>
            <a:r>
              <a:rPr lang="ko-KR" altLang="en-US" sz="1400" dirty="0">
                <a:highlight>
                  <a:srgbClr val="FFFF00"/>
                </a:highlight>
              </a:rPr>
              <a:t>와 </a:t>
            </a:r>
            <a:r>
              <a:rPr lang="en-US" altLang="ko-KR" sz="1400" dirty="0">
                <a:highlight>
                  <a:srgbClr val="FFFF00"/>
                </a:highlight>
              </a:rPr>
              <a:t>Model </a:t>
            </a:r>
            <a:r>
              <a:rPr lang="ko-KR" altLang="en-US" sz="1400" dirty="0">
                <a:highlight>
                  <a:srgbClr val="FFFF00"/>
                </a:highlight>
              </a:rPr>
              <a:t>사이의 의존성이 높다는 것입니다</a:t>
            </a:r>
            <a:r>
              <a:rPr lang="en-US" altLang="ko-KR" sz="1400" dirty="0"/>
              <a:t>. View</a:t>
            </a:r>
            <a:r>
              <a:rPr lang="ko-KR" altLang="en-US" sz="1400" dirty="0"/>
              <a:t>와 </a:t>
            </a:r>
            <a:r>
              <a:rPr lang="en-US" altLang="ko-KR" sz="1400" dirty="0"/>
              <a:t>Model</a:t>
            </a:r>
            <a:r>
              <a:rPr lang="ko-KR" altLang="en-US" sz="1400" dirty="0"/>
              <a:t>의 높은 의존성은 어플리케이션이 커질 수록 </a:t>
            </a:r>
            <a:r>
              <a:rPr lang="ko-KR" altLang="en-US" sz="1400" dirty="0" err="1"/>
              <a:t>복잡하지고</a:t>
            </a:r>
            <a:r>
              <a:rPr lang="ko-KR" altLang="en-US" sz="1400" dirty="0"/>
              <a:t> 유지보수가 어렵게 만들 수 있습니다</a:t>
            </a:r>
            <a:r>
              <a:rPr lang="en-US" altLang="ko-KR" sz="1400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33324CA-6A23-C800-AAB9-BE104238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MVC </a:t>
            </a:r>
            <a:r>
              <a:rPr lang="ko-KR" altLang="en-US" dirty="0"/>
              <a:t>스타일                                                  </a:t>
            </a:r>
            <a:r>
              <a:rPr lang="ko-KR" altLang="en-US" sz="1000" dirty="0"/>
              <a:t>참조 </a:t>
            </a:r>
            <a:r>
              <a:rPr lang="en-US" altLang="ko-KR" sz="1000" dirty="0"/>
              <a:t>: https://beomy.tistory.com/43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7B4B1E-911B-EDDA-67B3-310BE3813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143" y="843558"/>
            <a:ext cx="2902360" cy="215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54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E9243-87B7-4FFA-0874-F39C72F83809}"/>
              </a:ext>
            </a:extLst>
          </p:cNvPr>
          <p:cNvSpPr txBox="1"/>
          <p:nvPr/>
        </p:nvSpPr>
        <p:spPr>
          <a:xfrm>
            <a:off x="196268" y="576424"/>
            <a:ext cx="843022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구조 </a:t>
            </a:r>
            <a:endParaRPr lang="en-US" altLang="ko-KR" sz="1400" b="1" dirty="0"/>
          </a:p>
          <a:p>
            <a:r>
              <a:rPr lang="en-US" altLang="ko-KR" sz="1200" dirty="0"/>
              <a:t>Model : </a:t>
            </a:r>
            <a:r>
              <a:rPr lang="ko-KR" altLang="en-US" sz="1200" dirty="0"/>
              <a:t>어플리케이션에서 사용되는 데이터와 그 데이터를 처리하는 부분입니다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: </a:t>
            </a:r>
            <a:r>
              <a:rPr lang="ko-KR" altLang="en-US" sz="1200" dirty="0"/>
              <a:t>사용자에서 보여지는 </a:t>
            </a:r>
            <a:r>
              <a:rPr lang="en-US" altLang="ko-KR" sz="1200" dirty="0"/>
              <a:t>UI </a:t>
            </a:r>
            <a:r>
              <a:rPr lang="ko-KR" altLang="en-US" sz="1200" dirty="0"/>
              <a:t>부분입니다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Presenter : View</a:t>
            </a:r>
            <a:r>
              <a:rPr lang="ko-KR" altLang="en-US" sz="1200" dirty="0"/>
              <a:t>에서 요청한 정보로 </a:t>
            </a:r>
            <a:r>
              <a:rPr lang="en-US" altLang="ko-KR" sz="1200" dirty="0"/>
              <a:t>Model</a:t>
            </a:r>
            <a:r>
              <a:rPr lang="ko-KR" altLang="en-US" sz="1200" dirty="0"/>
              <a:t>을 가공하여 </a:t>
            </a:r>
            <a:r>
              <a:rPr lang="en-US" altLang="ko-KR" sz="1200" dirty="0"/>
              <a:t>View</a:t>
            </a:r>
            <a:r>
              <a:rPr lang="ko-KR" altLang="en-US" sz="1200" dirty="0"/>
              <a:t>에 전달해 주는 부분입니다</a:t>
            </a:r>
            <a:r>
              <a:rPr lang="en-US" altLang="ko-KR" sz="1200" dirty="0"/>
              <a:t>. 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2. </a:t>
            </a:r>
            <a:r>
              <a:rPr lang="ko-KR" altLang="en-US" sz="1400" b="1" dirty="0"/>
              <a:t>동작</a:t>
            </a:r>
            <a:endParaRPr lang="en-US" altLang="ko-KR" sz="1400" b="1" dirty="0"/>
          </a:p>
          <a:p>
            <a:r>
              <a:rPr lang="ko-KR" altLang="en-US" sz="1200" dirty="0"/>
              <a:t>사용자의 </a:t>
            </a:r>
            <a:r>
              <a:rPr lang="en-US" altLang="ko-KR" sz="1200" dirty="0"/>
              <a:t>Action</a:t>
            </a:r>
            <a:r>
              <a:rPr lang="ko-KR" altLang="en-US" sz="1200" dirty="0"/>
              <a:t>들은 </a:t>
            </a:r>
            <a:r>
              <a:rPr lang="en-US" altLang="ko-KR" sz="1200" dirty="0"/>
              <a:t>View</a:t>
            </a:r>
            <a:r>
              <a:rPr lang="ko-KR" altLang="en-US" sz="1200" dirty="0"/>
              <a:t>를 통해 들어오게 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</a:t>
            </a:r>
            <a:r>
              <a:rPr lang="ko-KR" altLang="en-US" sz="1200" dirty="0"/>
              <a:t>는 데이터를 </a:t>
            </a:r>
            <a:r>
              <a:rPr lang="en-US" altLang="ko-KR" sz="1200" dirty="0"/>
              <a:t>Presenter</a:t>
            </a:r>
            <a:r>
              <a:rPr lang="ko-KR" altLang="en-US" sz="1200" dirty="0"/>
              <a:t>에 요청합니다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Presenter</a:t>
            </a:r>
            <a:r>
              <a:rPr lang="ko-KR" altLang="en-US" sz="1200" dirty="0"/>
              <a:t>는 </a:t>
            </a:r>
            <a:r>
              <a:rPr lang="en-US" altLang="ko-KR" sz="1200" dirty="0"/>
              <a:t>Model</a:t>
            </a:r>
            <a:r>
              <a:rPr lang="ko-KR" altLang="en-US" sz="1200" dirty="0"/>
              <a:t>에게 데이터를 요청합니다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Model</a:t>
            </a:r>
            <a:r>
              <a:rPr lang="ko-KR" altLang="en-US" sz="1200" dirty="0"/>
              <a:t>은 </a:t>
            </a:r>
            <a:r>
              <a:rPr lang="en-US" altLang="ko-KR" sz="1200" dirty="0"/>
              <a:t>Presenter</a:t>
            </a:r>
            <a:r>
              <a:rPr lang="ko-KR" altLang="en-US" sz="1200" dirty="0"/>
              <a:t>에서 </a:t>
            </a:r>
            <a:r>
              <a:rPr lang="ko-KR" altLang="en-US" sz="1200" dirty="0" err="1"/>
              <a:t>요청받은</a:t>
            </a:r>
            <a:r>
              <a:rPr lang="ko-KR" altLang="en-US" sz="1200" dirty="0"/>
              <a:t> 데이터를 응답합니다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Presenter</a:t>
            </a:r>
            <a:r>
              <a:rPr lang="ko-KR" altLang="en-US" sz="1200" dirty="0"/>
              <a:t>는 </a:t>
            </a:r>
            <a:r>
              <a:rPr lang="en-US" altLang="ko-KR" sz="1200" dirty="0"/>
              <a:t>View</a:t>
            </a:r>
            <a:r>
              <a:rPr lang="ko-KR" altLang="en-US" sz="1200" dirty="0"/>
              <a:t>에게 데이터를 응답합니다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</a:t>
            </a:r>
            <a:r>
              <a:rPr lang="ko-KR" altLang="en-US" sz="1200" dirty="0"/>
              <a:t>는 </a:t>
            </a:r>
            <a:r>
              <a:rPr lang="en-US" altLang="ko-KR" sz="1200" dirty="0"/>
              <a:t>Presenter</a:t>
            </a:r>
            <a:r>
              <a:rPr lang="ko-KR" altLang="en-US" sz="1200" dirty="0"/>
              <a:t>가 응답한 데이터를 이용하여 화면을 나타냅니다</a:t>
            </a:r>
            <a:r>
              <a:rPr lang="en-US" altLang="ko-KR" sz="1200" dirty="0"/>
              <a:t>.</a:t>
            </a:r>
          </a:p>
          <a:p>
            <a:endParaRPr lang="en-US" altLang="ko-KR" sz="1400" b="1" dirty="0"/>
          </a:p>
          <a:p>
            <a:r>
              <a:rPr lang="en-US" altLang="ko-KR" sz="1400" b="1" dirty="0"/>
              <a:t>3. </a:t>
            </a:r>
            <a:r>
              <a:rPr lang="ko-KR" altLang="en-US" sz="1400" b="1" dirty="0"/>
              <a:t>특징</a:t>
            </a:r>
            <a:endParaRPr lang="en-US" altLang="ko-KR" sz="1400" b="1" dirty="0"/>
          </a:p>
          <a:p>
            <a:r>
              <a:rPr lang="en-US" altLang="ko-KR" sz="1200" dirty="0"/>
              <a:t>Presenter</a:t>
            </a:r>
            <a:r>
              <a:rPr lang="ko-KR" altLang="en-US" sz="1200" dirty="0"/>
              <a:t>는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Model</a:t>
            </a:r>
            <a:r>
              <a:rPr lang="ko-KR" altLang="en-US" sz="1200" dirty="0"/>
              <a:t>의 인스턴스를 가지고 있어 둘을 연결하는 접착제 역할을 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>
                <a:highlight>
                  <a:srgbClr val="FFFF00"/>
                </a:highlight>
              </a:rPr>
              <a:t>Presenter</a:t>
            </a:r>
            <a:r>
              <a:rPr lang="ko-KR" altLang="en-US" sz="1200" dirty="0">
                <a:highlight>
                  <a:srgbClr val="FFFF00"/>
                </a:highlight>
              </a:rPr>
              <a:t>와 </a:t>
            </a:r>
            <a:r>
              <a:rPr lang="en-US" altLang="ko-KR" sz="1200" dirty="0">
                <a:highlight>
                  <a:srgbClr val="FFFF00"/>
                </a:highlight>
              </a:rPr>
              <a:t>View</a:t>
            </a:r>
            <a:r>
              <a:rPr lang="ko-KR" altLang="en-US" sz="1200" dirty="0">
                <a:highlight>
                  <a:srgbClr val="FFFF00"/>
                </a:highlight>
              </a:rPr>
              <a:t>는 </a:t>
            </a:r>
            <a:r>
              <a:rPr lang="en-US" altLang="ko-KR" sz="1200" dirty="0">
                <a:highlight>
                  <a:srgbClr val="FFFF00"/>
                </a:highlight>
              </a:rPr>
              <a:t>1:1 </a:t>
            </a:r>
            <a:r>
              <a:rPr lang="ko-KR" altLang="en-US" sz="1200" dirty="0">
                <a:highlight>
                  <a:srgbClr val="FFFF00"/>
                </a:highlight>
              </a:rPr>
              <a:t>관계입니다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</a:p>
          <a:p>
            <a:endParaRPr lang="en-US" altLang="ko-KR" sz="1400" b="1" dirty="0">
              <a:highlight>
                <a:srgbClr val="FFFF00"/>
              </a:highlight>
            </a:endParaRPr>
          </a:p>
          <a:p>
            <a:r>
              <a:rPr lang="en-US" altLang="ko-KR" sz="1400" b="1" dirty="0"/>
              <a:t>4. </a:t>
            </a:r>
            <a:r>
              <a:rPr lang="ko-KR" altLang="en-US" sz="1400" b="1" dirty="0"/>
              <a:t>장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단점</a:t>
            </a:r>
            <a:endParaRPr lang="en-US" altLang="ko-KR" sz="1400" b="1" dirty="0"/>
          </a:p>
          <a:p>
            <a:r>
              <a:rPr lang="ko-KR" altLang="en-US" sz="1200" dirty="0"/>
              <a:t>장점 </a:t>
            </a:r>
            <a:r>
              <a:rPr lang="en-US" altLang="ko-KR" sz="1200" dirty="0"/>
              <a:t>: </a:t>
            </a:r>
            <a:r>
              <a:rPr lang="en-US" altLang="ko-KR" sz="1200" dirty="0">
                <a:highlight>
                  <a:srgbClr val="FFFF00"/>
                </a:highlight>
              </a:rPr>
              <a:t>MVP </a:t>
            </a:r>
            <a:r>
              <a:rPr lang="ko-KR" altLang="en-US" sz="1200" dirty="0">
                <a:highlight>
                  <a:srgbClr val="FFFF00"/>
                </a:highlight>
              </a:rPr>
              <a:t>패턴의 장점은 </a:t>
            </a:r>
            <a:r>
              <a:rPr lang="en-US" altLang="ko-KR" sz="1200" dirty="0">
                <a:highlight>
                  <a:srgbClr val="FFFF00"/>
                </a:highlight>
              </a:rPr>
              <a:t>View</a:t>
            </a:r>
            <a:r>
              <a:rPr lang="ko-KR" altLang="en-US" sz="1200" dirty="0">
                <a:highlight>
                  <a:srgbClr val="FFFF00"/>
                </a:highlight>
              </a:rPr>
              <a:t>와 </a:t>
            </a:r>
            <a:r>
              <a:rPr lang="en-US" altLang="ko-KR" sz="1200" dirty="0">
                <a:highlight>
                  <a:srgbClr val="FFFF00"/>
                </a:highlight>
              </a:rPr>
              <a:t>Model</a:t>
            </a:r>
            <a:r>
              <a:rPr lang="ko-KR" altLang="en-US" sz="1200" dirty="0">
                <a:highlight>
                  <a:srgbClr val="FFFF00"/>
                </a:highlight>
              </a:rPr>
              <a:t>의 의존성이 없다는 것입니다</a:t>
            </a:r>
            <a:r>
              <a:rPr lang="en-US" altLang="ko-KR" sz="1200" dirty="0"/>
              <a:t>. MVP </a:t>
            </a:r>
            <a:r>
              <a:rPr lang="ko-KR" altLang="en-US" sz="1200" dirty="0"/>
              <a:t>패턴은 </a:t>
            </a:r>
            <a:r>
              <a:rPr lang="en-US" altLang="ko-KR" sz="1200" dirty="0"/>
              <a:t>MVC </a:t>
            </a:r>
            <a:r>
              <a:rPr lang="ko-KR" altLang="en-US" sz="1200" dirty="0"/>
              <a:t>패턴의 단점이었던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Model</a:t>
            </a:r>
            <a:r>
              <a:rPr lang="ko-KR" altLang="en-US" sz="1200" dirty="0"/>
              <a:t>의 의존성을 해결하였습니다</a:t>
            </a:r>
            <a:r>
              <a:rPr lang="en-US" altLang="ko-KR" sz="1200" dirty="0"/>
              <a:t>. (Presenter</a:t>
            </a:r>
            <a:r>
              <a:rPr lang="ko-KR" altLang="en-US" sz="1200" dirty="0"/>
              <a:t>를 통해서만 데이터를 전달 받기 때문에</a:t>
            </a:r>
            <a:r>
              <a:rPr lang="en-US" altLang="ko-KR" sz="1200" dirty="0"/>
              <a:t>..)</a:t>
            </a:r>
          </a:p>
          <a:p>
            <a:r>
              <a:rPr lang="ko-KR" altLang="en-US" sz="1200" dirty="0"/>
              <a:t>단점 </a:t>
            </a:r>
            <a:r>
              <a:rPr lang="en-US" altLang="ko-KR" sz="1200" dirty="0"/>
              <a:t>: MVC </a:t>
            </a:r>
            <a:r>
              <a:rPr lang="ko-KR" altLang="en-US" sz="1200" dirty="0"/>
              <a:t>패턴의 단점인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Model </a:t>
            </a:r>
            <a:r>
              <a:rPr lang="ko-KR" altLang="en-US" sz="1200" dirty="0"/>
              <a:t>사이의 의존성은 해결되었지만</a:t>
            </a:r>
            <a:r>
              <a:rPr lang="en-US" altLang="ko-KR" sz="1200" dirty="0"/>
              <a:t>, </a:t>
            </a:r>
            <a:r>
              <a:rPr lang="en-US" altLang="ko-KR" sz="1200" dirty="0">
                <a:highlight>
                  <a:srgbClr val="FFFF00"/>
                </a:highlight>
              </a:rPr>
              <a:t>View</a:t>
            </a:r>
            <a:r>
              <a:rPr lang="ko-KR" altLang="en-US" sz="1200" dirty="0">
                <a:highlight>
                  <a:srgbClr val="FFFF00"/>
                </a:highlight>
              </a:rPr>
              <a:t>와 </a:t>
            </a:r>
            <a:r>
              <a:rPr lang="en-US" altLang="ko-KR" sz="1200" dirty="0">
                <a:highlight>
                  <a:srgbClr val="FFFF00"/>
                </a:highlight>
              </a:rPr>
              <a:t>Presenter </a:t>
            </a:r>
            <a:r>
              <a:rPr lang="ko-KR" altLang="en-US" sz="1200" dirty="0">
                <a:highlight>
                  <a:srgbClr val="FFFF00"/>
                </a:highlight>
              </a:rPr>
              <a:t>사이의 의존성이 높은 가지게 되는 단점이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어플리케이션이 복잡해 질 수록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Presenter </a:t>
            </a:r>
            <a:r>
              <a:rPr lang="ko-KR" altLang="en-US" sz="1200" dirty="0"/>
              <a:t>사이의 의존성이 강해지는 단점이 있습니다</a:t>
            </a:r>
            <a:r>
              <a:rPr lang="en-US" altLang="ko-KR" sz="1200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33324CA-6A23-C800-AAB9-BE104238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MVP </a:t>
            </a:r>
            <a:r>
              <a:rPr lang="ko-KR" altLang="en-US" dirty="0"/>
              <a:t>스타일                                                  </a:t>
            </a:r>
            <a:r>
              <a:rPr lang="ko-KR" altLang="en-US" sz="1000" dirty="0"/>
              <a:t>참조 </a:t>
            </a:r>
            <a:r>
              <a:rPr lang="en-US" altLang="ko-KR" sz="1000" dirty="0"/>
              <a:t>: https://beomy.tistory.com/43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D4C5DF-7C05-3215-9FD3-9F5F4519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330" y="843558"/>
            <a:ext cx="2789402" cy="206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94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CE9243-87B7-4FFA-0874-F39C72F83809}"/>
              </a:ext>
            </a:extLst>
          </p:cNvPr>
          <p:cNvSpPr txBox="1"/>
          <p:nvPr/>
        </p:nvSpPr>
        <p:spPr>
          <a:xfrm>
            <a:off x="196268" y="576424"/>
            <a:ext cx="84302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1. </a:t>
            </a:r>
            <a:r>
              <a:rPr lang="ko-KR" altLang="en-US" sz="1400" b="1" dirty="0"/>
              <a:t>구조 </a:t>
            </a:r>
            <a:endParaRPr lang="en-US" altLang="ko-KR" sz="1400" b="1" dirty="0"/>
          </a:p>
          <a:p>
            <a:r>
              <a:rPr lang="en-US" altLang="ko-KR" sz="1200" dirty="0"/>
              <a:t>Model : </a:t>
            </a:r>
            <a:r>
              <a:rPr lang="ko-KR" altLang="en-US" sz="1200" dirty="0"/>
              <a:t>어플리케이션에서 사용되는 데이터와 그 데이터를 처리하는 부분입니다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: </a:t>
            </a:r>
            <a:r>
              <a:rPr lang="ko-KR" altLang="en-US" sz="1200" dirty="0"/>
              <a:t>사용자에서 보여지는 </a:t>
            </a:r>
            <a:r>
              <a:rPr lang="en-US" altLang="ko-KR" sz="1200" dirty="0"/>
              <a:t>UI </a:t>
            </a:r>
            <a:r>
              <a:rPr lang="ko-KR" altLang="en-US" sz="1200" dirty="0"/>
              <a:t>부분입니다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Model : View</a:t>
            </a:r>
            <a:r>
              <a:rPr lang="ko-KR" altLang="en-US" sz="1200" dirty="0"/>
              <a:t>를 표현하기 위해 만든 </a:t>
            </a:r>
            <a:r>
              <a:rPr lang="en-US" altLang="ko-KR" sz="1200" dirty="0"/>
              <a:t>View</a:t>
            </a:r>
            <a:r>
              <a:rPr lang="ko-KR" altLang="en-US" sz="1200" dirty="0"/>
              <a:t>를 위한 </a:t>
            </a:r>
            <a:r>
              <a:rPr lang="en-US" altLang="ko-KR" sz="1200" dirty="0"/>
              <a:t>Model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View</a:t>
            </a:r>
            <a:r>
              <a:rPr lang="ko-KR" altLang="en-US" sz="1200" dirty="0"/>
              <a:t>를 나타내 주기 위한 </a:t>
            </a:r>
            <a:r>
              <a:rPr lang="en-US" altLang="ko-KR" sz="1200" dirty="0"/>
              <a:t>Model</a:t>
            </a:r>
            <a:r>
              <a:rPr lang="ko-KR" altLang="en-US" sz="1200" dirty="0"/>
              <a:t>이자 </a:t>
            </a:r>
            <a:r>
              <a:rPr lang="en-US" altLang="ko-KR" sz="1200" dirty="0"/>
              <a:t>View</a:t>
            </a:r>
            <a:r>
              <a:rPr lang="ko-KR" altLang="en-US" sz="1200" dirty="0"/>
              <a:t>를 나타내기 위한 데이터 처리를 하는 부분입니다</a:t>
            </a:r>
            <a:r>
              <a:rPr lang="en-US" altLang="ko-KR" sz="1200" dirty="0"/>
              <a:t>.</a:t>
            </a:r>
            <a:endParaRPr lang="en-US" altLang="ko-KR" sz="1400" b="1" dirty="0"/>
          </a:p>
          <a:p>
            <a:r>
              <a:rPr lang="en-US" altLang="ko-KR" sz="1400" b="1" dirty="0"/>
              <a:t>2. </a:t>
            </a:r>
            <a:r>
              <a:rPr lang="ko-KR" altLang="en-US" sz="1400" b="1" dirty="0"/>
              <a:t>동작</a:t>
            </a:r>
            <a:endParaRPr lang="en-US" altLang="ko-KR" sz="1400" b="1" dirty="0"/>
          </a:p>
          <a:p>
            <a:r>
              <a:rPr lang="ko-KR" altLang="en-US" sz="1200" dirty="0"/>
              <a:t>사용자의 </a:t>
            </a:r>
            <a:r>
              <a:rPr lang="en-US" altLang="ko-KR" sz="1200" dirty="0"/>
              <a:t>Action</a:t>
            </a:r>
            <a:r>
              <a:rPr lang="ko-KR" altLang="en-US" sz="1200" dirty="0"/>
              <a:t>들은 </a:t>
            </a:r>
            <a:r>
              <a:rPr lang="en-US" altLang="ko-KR" sz="1200" dirty="0"/>
              <a:t>View</a:t>
            </a:r>
            <a:r>
              <a:rPr lang="ko-KR" altLang="en-US" sz="1200" dirty="0"/>
              <a:t>를 통해 들어오게 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</a:t>
            </a:r>
            <a:r>
              <a:rPr lang="ko-KR" altLang="en-US" sz="1200" dirty="0"/>
              <a:t>에 </a:t>
            </a:r>
            <a:r>
              <a:rPr lang="en-US" altLang="ko-KR" sz="1200" dirty="0"/>
              <a:t>Action</a:t>
            </a:r>
            <a:r>
              <a:rPr lang="ko-KR" altLang="en-US" sz="1200" dirty="0"/>
              <a:t>이 들어오면</a:t>
            </a:r>
            <a:r>
              <a:rPr lang="en-US" altLang="ko-KR" sz="1200" dirty="0"/>
              <a:t>, Command </a:t>
            </a:r>
            <a:r>
              <a:rPr lang="ko-KR" altLang="en-US" sz="1200" dirty="0"/>
              <a:t>패턴으로 </a:t>
            </a:r>
            <a:r>
              <a:rPr lang="en-US" altLang="ko-KR" sz="1200" dirty="0"/>
              <a:t>View Model</a:t>
            </a:r>
            <a:r>
              <a:rPr lang="ko-KR" altLang="en-US" sz="1200" dirty="0"/>
              <a:t>에 </a:t>
            </a:r>
            <a:r>
              <a:rPr lang="en-US" altLang="ko-KR" sz="1200" dirty="0"/>
              <a:t>Action</a:t>
            </a:r>
            <a:r>
              <a:rPr lang="ko-KR" altLang="en-US" sz="1200" dirty="0"/>
              <a:t>을 전달합니다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Model</a:t>
            </a:r>
            <a:r>
              <a:rPr lang="ko-KR" altLang="en-US" sz="1200" dirty="0"/>
              <a:t>은 </a:t>
            </a:r>
            <a:r>
              <a:rPr lang="en-US" altLang="ko-KR" sz="1200" dirty="0"/>
              <a:t>Model</a:t>
            </a:r>
            <a:r>
              <a:rPr lang="ko-KR" altLang="en-US" sz="1200" dirty="0"/>
              <a:t>에게 데이터를 요청합니다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Model</a:t>
            </a:r>
            <a:r>
              <a:rPr lang="ko-KR" altLang="en-US" sz="1200" dirty="0"/>
              <a:t>은 </a:t>
            </a:r>
            <a:r>
              <a:rPr lang="en-US" altLang="ko-KR" sz="1200" dirty="0"/>
              <a:t>View Model</a:t>
            </a:r>
            <a:r>
              <a:rPr lang="ko-KR" altLang="en-US" sz="1200" dirty="0"/>
              <a:t>에게 </a:t>
            </a:r>
            <a:r>
              <a:rPr lang="ko-KR" altLang="en-US" sz="1200" dirty="0" err="1"/>
              <a:t>요청받은</a:t>
            </a:r>
            <a:r>
              <a:rPr lang="ko-KR" altLang="en-US" sz="1200" dirty="0"/>
              <a:t> 데이터를 응답합니다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Model</a:t>
            </a:r>
            <a:r>
              <a:rPr lang="ko-KR" altLang="en-US" sz="1200" dirty="0"/>
              <a:t>은 응답 받은 데이터를 가공하여 저장합니다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</a:t>
            </a:r>
            <a:r>
              <a:rPr lang="ko-KR" altLang="en-US" sz="1200" dirty="0"/>
              <a:t>는 </a:t>
            </a:r>
            <a:r>
              <a:rPr lang="en-US" altLang="ko-KR" sz="1200" dirty="0"/>
              <a:t>View Model</a:t>
            </a:r>
            <a:r>
              <a:rPr lang="ko-KR" altLang="en-US" sz="1200" dirty="0"/>
              <a:t>과 </a:t>
            </a:r>
            <a:r>
              <a:rPr lang="en-US" altLang="ko-KR" sz="1200" dirty="0"/>
              <a:t>Data Binding</a:t>
            </a:r>
            <a:r>
              <a:rPr lang="ko-KR" altLang="en-US" sz="1200" dirty="0"/>
              <a:t>하여 화면을 나타냅니다</a:t>
            </a:r>
            <a:r>
              <a:rPr lang="en-US" altLang="ko-KR" sz="1200" dirty="0"/>
              <a:t>.</a:t>
            </a:r>
            <a:endParaRPr lang="en-US" altLang="ko-KR" sz="1400" b="1" dirty="0"/>
          </a:p>
          <a:p>
            <a:r>
              <a:rPr lang="en-US" altLang="ko-KR" sz="1400" b="1" dirty="0"/>
              <a:t>3. </a:t>
            </a:r>
            <a:r>
              <a:rPr lang="ko-KR" altLang="en-US" sz="1400" b="1" dirty="0"/>
              <a:t>특징</a:t>
            </a:r>
            <a:endParaRPr lang="en-US" altLang="ko-KR" sz="1400" b="1" dirty="0"/>
          </a:p>
          <a:p>
            <a:r>
              <a:rPr lang="en-US" altLang="ko-KR" sz="1200" dirty="0"/>
              <a:t>MVVM </a:t>
            </a:r>
            <a:r>
              <a:rPr lang="ko-KR" altLang="en-US" sz="1200" dirty="0"/>
              <a:t>패턴은 </a:t>
            </a:r>
            <a:r>
              <a:rPr lang="en-US" altLang="ko-KR" sz="1200" dirty="0"/>
              <a:t>Command </a:t>
            </a:r>
            <a:r>
              <a:rPr lang="ko-KR" altLang="en-US" sz="1200" dirty="0"/>
              <a:t>패턴과 </a:t>
            </a:r>
            <a:r>
              <a:rPr lang="en-US" altLang="ko-KR" sz="1200" dirty="0"/>
              <a:t>Data Binding </a:t>
            </a:r>
            <a:r>
              <a:rPr lang="ko-KR" altLang="en-US" sz="1200" dirty="0"/>
              <a:t>두 가지 패턴을 사용하여 구현되었습니다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Command </a:t>
            </a:r>
            <a:r>
              <a:rPr lang="ko-KR" altLang="en-US" sz="1200" dirty="0"/>
              <a:t>패턴과 </a:t>
            </a:r>
            <a:r>
              <a:rPr lang="en-US" altLang="ko-KR" sz="1200" dirty="0"/>
              <a:t>Data Binding</a:t>
            </a:r>
            <a:r>
              <a:rPr lang="ko-KR" altLang="en-US" sz="1200" dirty="0"/>
              <a:t>을 이용하여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View Model </a:t>
            </a:r>
            <a:r>
              <a:rPr lang="ko-KR" altLang="en-US" sz="1200" dirty="0"/>
              <a:t>사이의 의존성을 없앴습니다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View Model</a:t>
            </a:r>
            <a:r>
              <a:rPr lang="ko-KR" altLang="en-US" sz="1200" dirty="0"/>
              <a:t>과 </a:t>
            </a:r>
            <a:r>
              <a:rPr lang="en-US" altLang="ko-KR" sz="1200" dirty="0"/>
              <a:t>View</a:t>
            </a:r>
            <a:r>
              <a:rPr lang="ko-KR" altLang="en-US" sz="1200" dirty="0"/>
              <a:t>는 </a:t>
            </a:r>
            <a:r>
              <a:rPr lang="en-US" altLang="ko-KR" sz="1200" dirty="0"/>
              <a:t>1:n </a:t>
            </a:r>
            <a:r>
              <a:rPr lang="ko-KR" altLang="en-US" sz="1200" dirty="0"/>
              <a:t>관계입니다</a:t>
            </a:r>
            <a:r>
              <a:rPr lang="en-US" altLang="ko-KR" sz="1200" dirty="0"/>
              <a:t>.</a:t>
            </a:r>
            <a:endParaRPr lang="en-US" altLang="ko-KR" sz="1400" b="1" dirty="0"/>
          </a:p>
          <a:p>
            <a:r>
              <a:rPr lang="en-US" altLang="ko-KR" sz="1400" b="1" dirty="0"/>
              <a:t>4. </a:t>
            </a:r>
            <a:r>
              <a:rPr lang="ko-KR" altLang="en-US" sz="1400" b="1" dirty="0"/>
              <a:t>장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단점</a:t>
            </a:r>
            <a:endParaRPr lang="en-US" altLang="ko-KR" sz="1400" b="1" dirty="0"/>
          </a:p>
          <a:p>
            <a:r>
              <a:rPr lang="ko-KR" altLang="en-US" sz="1200" dirty="0"/>
              <a:t>장점 </a:t>
            </a:r>
            <a:r>
              <a:rPr lang="en-US" altLang="ko-KR" sz="1200" dirty="0"/>
              <a:t>: MVVM </a:t>
            </a:r>
            <a:r>
              <a:rPr lang="ko-KR" altLang="en-US" sz="1200" dirty="0"/>
              <a:t>패턴은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Model </a:t>
            </a:r>
            <a:r>
              <a:rPr lang="ko-KR" altLang="en-US" sz="1200" dirty="0"/>
              <a:t>사이의 의존성이 없습니다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 </a:t>
            </a:r>
            <a:r>
              <a:rPr lang="en-US" altLang="ko-KR" sz="1200" dirty="0"/>
              <a:t>Command </a:t>
            </a:r>
            <a:r>
              <a:rPr lang="ko-KR" altLang="en-US" sz="1200" dirty="0"/>
              <a:t>패턴과 </a:t>
            </a:r>
            <a:r>
              <a:rPr lang="en-US" altLang="ko-KR" sz="1200" dirty="0"/>
              <a:t>Data Binding</a:t>
            </a:r>
            <a:r>
              <a:rPr lang="ko-KR" altLang="en-US" sz="1200" dirty="0"/>
              <a:t>을 사용하여 </a:t>
            </a:r>
            <a:r>
              <a:rPr lang="en-US" altLang="ko-KR" sz="1200" dirty="0"/>
              <a:t>View</a:t>
            </a:r>
            <a:r>
              <a:rPr lang="ko-KR" altLang="en-US" sz="1200" dirty="0"/>
              <a:t>와 </a:t>
            </a:r>
            <a:r>
              <a:rPr lang="en-US" altLang="ko-KR" sz="1200" dirty="0"/>
              <a:t>View Model </a:t>
            </a:r>
            <a:r>
              <a:rPr lang="ko-KR" altLang="en-US" sz="1200" dirty="0"/>
              <a:t>사이의 의존성 또한 없앤 </a:t>
            </a:r>
            <a:r>
              <a:rPr lang="ko-KR" altLang="en-US" sz="1200" dirty="0" err="1"/>
              <a:t>디자인패턴입니다</a:t>
            </a:r>
            <a:r>
              <a:rPr lang="en-US" altLang="ko-KR" sz="1200" dirty="0"/>
              <a:t>. </a:t>
            </a:r>
            <a:r>
              <a:rPr lang="ko-KR" altLang="en-US" sz="1200" dirty="0"/>
              <a:t>각각의 부분은 독립적이기 때문에 모듈화 하여 개발할 수 있습니다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단점 </a:t>
            </a:r>
            <a:r>
              <a:rPr lang="en-US" altLang="ko-KR" sz="1200" dirty="0"/>
              <a:t>: View Model</a:t>
            </a:r>
            <a:r>
              <a:rPr lang="ko-KR" altLang="en-US" sz="1200" dirty="0"/>
              <a:t>이 복잡해 집니다</a:t>
            </a:r>
            <a:r>
              <a:rPr lang="en-US" altLang="ko-KR" sz="1200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33324CA-6A23-C800-AAB9-BE104238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MVVM </a:t>
            </a:r>
            <a:r>
              <a:rPr lang="ko-KR" altLang="en-US" dirty="0"/>
              <a:t>스타일                                               </a:t>
            </a:r>
            <a:r>
              <a:rPr lang="ko-KR" altLang="en-US" sz="1000" dirty="0"/>
              <a:t>참조 </a:t>
            </a:r>
            <a:r>
              <a:rPr lang="en-US" altLang="ko-KR" sz="1000" dirty="0"/>
              <a:t>: https://beomy.tistory.com/43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FBEEA8-13BA-121B-AF76-6BC3990A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059582"/>
            <a:ext cx="2789402" cy="206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22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MVC Style</a:t>
            </a:r>
            <a:r>
              <a:rPr lang="ko-KR" altLang="en-US" dirty="0"/>
              <a:t>의 </a:t>
            </a:r>
            <a:r>
              <a:rPr lang="en-US" altLang="ko-KR" dirty="0"/>
              <a:t>Variations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D4C433-5A32-5617-FF2B-85397728CD81}"/>
              </a:ext>
            </a:extLst>
          </p:cNvPr>
          <p:cNvGrpSpPr/>
          <p:nvPr/>
        </p:nvGrpSpPr>
        <p:grpSpPr>
          <a:xfrm>
            <a:off x="440719" y="987574"/>
            <a:ext cx="8402137" cy="3836169"/>
            <a:chOff x="440719" y="987574"/>
            <a:chExt cx="8402137" cy="3836169"/>
          </a:xfrm>
        </p:grpSpPr>
        <p:pic>
          <p:nvPicPr>
            <p:cNvPr id="3074" name="Picture 2" descr="alt text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316"/>
            <a:stretch/>
          </p:blipFill>
          <p:spPr bwMode="auto">
            <a:xfrm>
              <a:off x="440719" y="987574"/>
              <a:ext cx="8402137" cy="3744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FBA846-7C4C-9ECE-E864-9F1C2FEBFAA0}"/>
                </a:ext>
              </a:extLst>
            </p:cNvPr>
            <p:cNvSpPr txBox="1"/>
            <p:nvPr/>
          </p:nvSpPr>
          <p:spPr>
            <a:xfrm>
              <a:off x="7596336" y="1275606"/>
              <a:ext cx="570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4156BD"/>
                  </a:solidFill>
                </a:rPr>
                <a:t>View</a:t>
              </a:r>
              <a:endParaRPr lang="ko-KR" altLang="en-US" sz="1400" dirty="0">
                <a:solidFill>
                  <a:srgbClr val="4156BD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C23A65-9D44-AF75-5097-A286B5812A49}"/>
                </a:ext>
              </a:extLst>
            </p:cNvPr>
            <p:cNvSpPr txBox="1"/>
            <p:nvPr/>
          </p:nvSpPr>
          <p:spPr>
            <a:xfrm>
              <a:off x="755576" y="4515966"/>
              <a:ext cx="7056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4156BD"/>
                  </a:solidFill>
                </a:rPr>
                <a:t>Model</a:t>
              </a:r>
              <a:endParaRPr lang="ko-KR" altLang="en-US" sz="1400" dirty="0">
                <a:solidFill>
                  <a:srgbClr val="4156BD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5176B8-BCA7-CF0C-753F-65BB279677D4}"/>
                </a:ext>
              </a:extLst>
            </p:cNvPr>
            <p:cNvSpPr txBox="1"/>
            <p:nvPr/>
          </p:nvSpPr>
          <p:spPr>
            <a:xfrm>
              <a:off x="5868144" y="1583383"/>
              <a:ext cx="1598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4156BD"/>
                  </a:solidFill>
                </a:rPr>
                <a:t>n:1, many-to-one</a:t>
              </a:r>
              <a:endParaRPr lang="ko-KR" altLang="en-US" sz="1400" dirty="0">
                <a:solidFill>
                  <a:srgbClr val="4156B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0440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Client-Server Style</a:t>
            </a:r>
            <a:endParaRPr lang="ko-KR" altLang="en-US" dirty="0"/>
          </a:p>
        </p:txBody>
      </p:sp>
      <p:sp>
        <p:nvSpPr>
          <p:cNvPr id="9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568952" cy="3751262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Decomposes a system into two components: </a:t>
            </a:r>
            <a:r>
              <a:rPr lang="en-US" altLang="ko-KR" sz="1800" b="1" dirty="0">
                <a:solidFill>
                  <a:srgbClr val="FF0000"/>
                </a:solidFill>
              </a:rPr>
              <a:t>client</a:t>
            </a:r>
            <a:r>
              <a:rPr lang="en-US" altLang="ko-KR" sz="1800" b="1" dirty="0"/>
              <a:t> and </a:t>
            </a:r>
            <a:r>
              <a:rPr lang="en-US" altLang="ko-KR" sz="1800" b="1" dirty="0">
                <a:solidFill>
                  <a:srgbClr val="FF0000"/>
                </a:solidFill>
              </a:rPr>
              <a:t>server</a:t>
            </a:r>
            <a:r>
              <a:rPr lang="en-US" altLang="ko-KR" sz="1800" b="1" dirty="0"/>
              <a:t>.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The client component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issues a request to  the server. </a:t>
            </a:r>
            <a:endParaRPr lang="en-US" altLang="ko-KR" sz="1600" dirty="0"/>
          </a:p>
          <a:p>
            <a:r>
              <a:rPr lang="en-US" altLang="ko-KR" sz="1800" dirty="0"/>
              <a:t>The server component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receives the request (serving data from a database, printing a document), carries it out, and sends a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  reply to the client.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967472" y="3219822"/>
            <a:ext cx="5224272" cy="1093125"/>
            <a:chOff x="1967472" y="3367374"/>
            <a:chExt cx="5224272" cy="1093125"/>
          </a:xfrm>
        </p:grpSpPr>
        <p:sp>
          <p:nvSpPr>
            <p:cNvPr id="4" name="직사각형 3"/>
            <p:cNvSpPr/>
            <p:nvPr/>
          </p:nvSpPr>
          <p:spPr>
            <a:xfrm>
              <a:off x="1967472" y="3435846"/>
              <a:ext cx="1755648" cy="999744"/>
            </a:xfrm>
            <a:prstGeom prst="rect">
              <a:avLst/>
            </a:prstGeom>
            <a:solidFill>
              <a:srgbClr val="4156B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Client</a:t>
              </a:r>
              <a:endParaRPr kumimoji="1" lang="ko-KR" altLang="en-US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5436096" y="3435846"/>
              <a:ext cx="1755648" cy="999744"/>
            </a:xfrm>
            <a:prstGeom prst="rect">
              <a:avLst/>
            </a:prstGeom>
            <a:solidFill>
              <a:srgbClr val="4156B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/>
                <a:t>Server</a:t>
              </a:r>
              <a:endParaRPr kumimoji="1" lang="ko-KR" altLang="en-US" dirty="0"/>
            </a:p>
          </p:txBody>
        </p:sp>
        <p:cxnSp>
          <p:nvCxnSpPr>
            <p:cNvPr id="6" name="직선 연결선[R] 8"/>
            <p:cNvCxnSpPr>
              <a:stCxn id="4" idx="3"/>
              <a:endCxn id="5" idx="1"/>
            </p:cNvCxnSpPr>
            <p:nvPr/>
          </p:nvCxnSpPr>
          <p:spPr>
            <a:xfrm>
              <a:off x="3723120" y="3935718"/>
              <a:ext cx="171297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174224" y="3367374"/>
              <a:ext cx="1261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/>
                <a:t>request</a:t>
              </a:r>
              <a:endParaRPr kumimoji="1"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59568" y="4091167"/>
              <a:ext cx="12618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reply</a:t>
              </a:r>
              <a:endParaRPr kumimoji="1" lang="ko-KR" altLang="en-US" dirty="0"/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>
              <a:off x="4259568" y="3800781"/>
              <a:ext cx="63093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>
              <a:stCxn id="8" idx="0"/>
            </p:cNvCxnSpPr>
            <p:nvPr/>
          </p:nvCxnSpPr>
          <p:spPr>
            <a:xfrm flipH="1">
              <a:off x="4268712" y="4091167"/>
              <a:ext cx="62179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0838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Computing component</a:t>
            </a:r>
            <a:r>
              <a:rPr lang="ko-KR" altLang="en-US" sz="1800" dirty="0"/>
              <a:t>와 </a:t>
            </a:r>
            <a:r>
              <a:rPr lang="en-US" altLang="ko-KR" sz="1800" dirty="0"/>
              <a:t>storage component</a:t>
            </a:r>
            <a:r>
              <a:rPr lang="ko-KR" altLang="en-US" sz="1800" dirty="0"/>
              <a:t>가 서로 다른 </a:t>
            </a:r>
            <a:r>
              <a:rPr lang="en-US" altLang="ko-KR" sz="1800" dirty="0"/>
              <a:t>tier</a:t>
            </a:r>
            <a:r>
              <a:rPr lang="ko-KR" altLang="en-US" sz="1800" dirty="0"/>
              <a:t>에 존재하는 구조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client </a:t>
            </a:r>
            <a:r>
              <a:rPr lang="ko-KR" altLang="en-US" sz="1800" dirty="0"/>
              <a:t>와 </a:t>
            </a:r>
            <a:r>
              <a:rPr lang="en-US" altLang="ko-KR" sz="1800" dirty="0"/>
              <a:t>server</a:t>
            </a:r>
            <a:r>
              <a:rPr lang="ko-KR" altLang="en-US" sz="1800" dirty="0"/>
              <a:t>가 역할을 명확히 분리하여 개발이 가능하다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서버 컴포넌트의 재사용이 용이하다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서버를 여러 개 두어 동시 사용성과 확정성을 늘일 수 있다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고성능 서버를 효율적으로 활용할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다수의 클라이언트가 접속하기 때문에 서버 데이터를 보호하기 위해 보안 로직이 강화되어야 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서버의 용량이 충분하지 않을 때 전체 시스템의 </a:t>
            </a:r>
            <a:r>
              <a:rPr lang="en-US" altLang="ko-KR" sz="1800" dirty="0"/>
              <a:t>bottle neck</a:t>
            </a:r>
            <a:r>
              <a:rPr lang="ko-KR" altLang="en-US" sz="1800" dirty="0"/>
              <a:t>이 된다</a:t>
            </a:r>
            <a:r>
              <a:rPr lang="en-US" altLang="ko-KR" sz="1800" dirty="0"/>
              <a:t>.  </a:t>
            </a:r>
            <a:r>
              <a:rPr lang="ko-KR" altLang="en-US" sz="1800" dirty="0"/>
              <a:t>서버의 오류는 전체 시스템에 </a:t>
            </a:r>
            <a:endParaRPr lang="en-US" altLang="ko-KR" sz="1800" dirty="0"/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치명적이다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분산된 환경에서의 동작 </a:t>
            </a:r>
            <a:r>
              <a:rPr lang="en-US" altLang="ko-KR" sz="1800" dirty="0"/>
              <a:t>test</a:t>
            </a:r>
            <a:r>
              <a:rPr lang="ko-KR" altLang="en-US" sz="1800" dirty="0"/>
              <a:t>라 테스트가 쉽지 않다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5193E1F2-87C9-D7FD-AC13-3034D468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>
            <a:normAutofit/>
          </a:bodyPr>
          <a:lstStyle/>
          <a:p>
            <a:r>
              <a:rPr lang="en-US" altLang="ko-KR" dirty="0"/>
              <a:t>Client-Server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977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3895278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3-tier architectures introduce an additional tier between the clients and the servers</a:t>
            </a:r>
          </a:p>
          <a:p>
            <a:r>
              <a:rPr lang="en-US" altLang="ko-KR" sz="1800" b="1" dirty="0"/>
              <a:t>Structure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b="1" dirty="0"/>
              <a:t>   - Client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Presentation layer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b="1" dirty="0"/>
              <a:t>   - Middleware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Application processing layer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   &gt; Support the development of application logic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b="1" dirty="0"/>
              <a:t>   - Server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</a:t>
            </a:r>
            <a:r>
              <a:rPr lang="ko-KR" altLang="en-US" sz="1600" dirty="0" err="1"/>
              <a:t>ㆍ</a:t>
            </a:r>
            <a:r>
              <a:rPr lang="en-US" altLang="ko-KR" sz="1600" dirty="0"/>
              <a:t>Data management layer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3-tier Architecture Style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4427984" y="1563638"/>
            <a:ext cx="1764840" cy="3111794"/>
            <a:chOff x="4427984" y="1401404"/>
            <a:chExt cx="1938528" cy="3418044"/>
          </a:xfrm>
        </p:grpSpPr>
        <p:sp>
          <p:nvSpPr>
            <p:cNvPr id="5" name="직사각형 4"/>
            <p:cNvSpPr/>
            <p:nvPr/>
          </p:nvSpPr>
          <p:spPr>
            <a:xfrm>
              <a:off x="4427984" y="1401404"/>
              <a:ext cx="1938528" cy="884961"/>
            </a:xfrm>
            <a:prstGeom prst="rect">
              <a:avLst/>
            </a:prstGeom>
            <a:solidFill>
              <a:srgbClr val="4156B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600" dirty="0"/>
                <a:t>client</a:t>
              </a:r>
              <a:endParaRPr kumimoji="1" lang="ko-KR" altLang="en-US" sz="1600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427984" y="2648346"/>
              <a:ext cx="1938528" cy="893969"/>
            </a:xfrm>
            <a:prstGeom prst="rect">
              <a:avLst/>
            </a:prstGeom>
            <a:solidFill>
              <a:srgbClr val="4156B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600"/>
                <a:t>middleware</a:t>
              </a:r>
              <a:endParaRPr kumimoji="1" lang="ko-KR" altLang="en-US" sz="1600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427984" y="3908866"/>
              <a:ext cx="1938528" cy="910582"/>
            </a:xfrm>
            <a:prstGeom prst="rect">
              <a:avLst/>
            </a:prstGeom>
            <a:solidFill>
              <a:srgbClr val="4156B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1600" dirty="0"/>
                <a:t>server</a:t>
              </a:r>
              <a:endParaRPr kumimoji="1" lang="ko-KR" altLang="en-US" sz="1600" dirty="0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5397248" y="2286365"/>
              <a:ext cx="0" cy="36198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/>
            <p:nvPr/>
          </p:nvCxnSpPr>
          <p:spPr>
            <a:xfrm>
              <a:off x="5360077" y="3546884"/>
              <a:ext cx="0" cy="36198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571128" y="1849565"/>
              <a:ext cx="16522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ko-KR" sz="1600" dirty="0"/>
                <a:t>User interface</a:t>
              </a:r>
              <a:endParaRPr kumimoji="1" lang="ko-KR" altLang="en-US" sz="16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1128" y="3083902"/>
              <a:ext cx="16522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/>
                <a:t>Application</a:t>
              </a:r>
              <a:endParaRPr kumimoji="1" lang="ko-KR" altLang="en-US" sz="16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71127" y="4337527"/>
              <a:ext cx="16522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1600" dirty="0"/>
                <a:t>Database</a:t>
              </a:r>
              <a:endParaRPr kumimoji="1" lang="ko-KR" altLang="en-US" sz="1600" dirty="0"/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148064" y="51470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Architecture &gt;</a:t>
            </a:r>
          </a:p>
          <a:p>
            <a:pPr algn="r"/>
            <a:r>
              <a:rPr lang="en-US" altLang="ko-KR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Multi-tier Style</a:t>
            </a:r>
          </a:p>
        </p:txBody>
      </p:sp>
    </p:spTree>
    <p:extLst>
      <p:ext uri="{BB962C8B-B14F-4D97-AF65-F5344CB8AC3E}">
        <p14:creationId xmlns:p14="http://schemas.microsoft.com/office/powerpoint/2010/main" val="3695005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Multi-tier </a:t>
            </a:r>
            <a:r>
              <a:rPr lang="ko-KR" altLang="en-US" sz="1800" dirty="0" err="1"/>
              <a:t>아키텍쳐</a:t>
            </a:r>
            <a:r>
              <a:rPr lang="ko-KR" altLang="en-US" sz="1800" dirty="0"/>
              <a:t> 스타일</a:t>
            </a:r>
            <a:r>
              <a:rPr lang="en-US" altLang="ko-KR" sz="1800" dirty="0"/>
              <a:t>, </a:t>
            </a:r>
            <a:r>
              <a:rPr lang="ko-KR" altLang="en-US" sz="1800" dirty="0"/>
              <a:t>물리적으로 분리된 복수의 </a:t>
            </a:r>
            <a:r>
              <a:rPr lang="en-US" altLang="ko-KR" sz="1800" dirty="0"/>
              <a:t>tier</a:t>
            </a:r>
            <a:r>
              <a:rPr lang="ko-KR" altLang="en-US" sz="1800" dirty="0"/>
              <a:t>로 </a:t>
            </a:r>
            <a:r>
              <a:rPr lang="en-US" altLang="ko-KR" sz="1800" dirty="0"/>
              <a:t>system</a:t>
            </a:r>
            <a:r>
              <a:rPr lang="ko-KR" altLang="en-US" sz="1800" dirty="0"/>
              <a:t>을 분산하여 구성</a:t>
            </a:r>
          </a:p>
          <a:p>
            <a:pPr marL="91463" indent="0">
              <a:buNone/>
            </a:pPr>
            <a:r>
              <a:rPr lang="en-US" altLang="ko-KR" sz="1800" dirty="0"/>
              <a:t>  Layer</a:t>
            </a:r>
            <a:r>
              <a:rPr lang="ko-KR" altLang="en-US" sz="1800" dirty="0"/>
              <a:t>는 </a:t>
            </a:r>
            <a:r>
              <a:rPr lang="en-US" altLang="ko-KR" sz="1800" dirty="0"/>
              <a:t>logical </a:t>
            </a:r>
            <a:r>
              <a:rPr lang="ko-KR" altLang="en-US" sz="1800" dirty="0"/>
              <a:t>구조의 구분</a:t>
            </a:r>
            <a:r>
              <a:rPr lang="en-US" altLang="ko-KR" sz="1800" dirty="0"/>
              <a:t>, Tier</a:t>
            </a:r>
            <a:r>
              <a:rPr lang="ko-KR" altLang="en-US" sz="1800" dirty="0"/>
              <a:t>는 물리적 구조의 구분</a:t>
            </a:r>
          </a:p>
          <a:p>
            <a:pPr marL="91463" indent="0">
              <a:buNone/>
            </a:pPr>
            <a:r>
              <a:rPr lang="en-US" altLang="ko-KR" sz="1800" dirty="0"/>
              <a:t>  3tier architecture style (presentation – middleware – server)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비즈니스 로직의 변화가 </a:t>
            </a:r>
            <a:r>
              <a:rPr lang="en-US" altLang="ko-KR" sz="1800" dirty="0"/>
              <a:t>middle tier</a:t>
            </a:r>
            <a:r>
              <a:rPr lang="ko-KR" altLang="en-US" sz="1800" dirty="0"/>
              <a:t>에만 영향을 주게 됨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Middle tier </a:t>
            </a:r>
            <a:r>
              <a:rPr lang="ko-KR" altLang="en-US" sz="1800" dirty="0"/>
              <a:t>의 존재는 </a:t>
            </a:r>
            <a:r>
              <a:rPr lang="en-US" altLang="ko-KR" sz="1800" dirty="0"/>
              <a:t>scalability </a:t>
            </a:r>
            <a:r>
              <a:rPr lang="ko-KR" altLang="en-US" sz="1800" dirty="0"/>
              <a:t>와 </a:t>
            </a:r>
            <a:r>
              <a:rPr lang="en-US" altLang="ko-KR" sz="1800" dirty="0"/>
              <a:t>performance </a:t>
            </a:r>
            <a:r>
              <a:rPr lang="ko-KR" altLang="en-US" sz="1800" dirty="0"/>
              <a:t>증가를 쉽게 할 수 있음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Data tier</a:t>
            </a:r>
            <a:r>
              <a:rPr lang="ko-KR" altLang="en-US" sz="1800" dirty="0"/>
              <a:t>와 </a:t>
            </a:r>
            <a:r>
              <a:rPr lang="en-US" altLang="ko-KR" sz="1800" dirty="0"/>
              <a:t>business logic</a:t>
            </a:r>
            <a:r>
              <a:rPr lang="ko-KR" altLang="en-US" sz="1800" dirty="0"/>
              <a:t>을 분리하여 </a:t>
            </a:r>
            <a:r>
              <a:rPr lang="en-US" altLang="ko-KR" sz="1800" dirty="0"/>
              <a:t>end user</a:t>
            </a:r>
            <a:r>
              <a:rPr lang="ko-KR" altLang="en-US" sz="1800" dirty="0"/>
              <a:t>로 부터 </a:t>
            </a:r>
            <a:r>
              <a:rPr lang="en-US" altLang="ko-KR" sz="1800" dirty="0"/>
              <a:t>access</a:t>
            </a:r>
            <a:r>
              <a:rPr lang="ko-KR" altLang="en-US" sz="1800" dirty="0"/>
              <a:t>를 보호 할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복잡도 와 </a:t>
            </a:r>
            <a:r>
              <a:rPr lang="en-US" altLang="ko-KR" sz="1800" dirty="0"/>
              <a:t>overhead</a:t>
            </a:r>
          </a:p>
          <a:p>
            <a:pPr marL="91463" indent="0">
              <a:buNone/>
            </a:pPr>
            <a:r>
              <a:rPr lang="en-US" altLang="ko-KR" sz="1800" dirty="0"/>
              <a:t>   Testing</a:t>
            </a:r>
            <a:r>
              <a:rPr lang="ko-KR" altLang="en-US" sz="1800" dirty="0"/>
              <a:t>이 어렵다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Tier</a:t>
            </a:r>
            <a:r>
              <a:rPr lang="ko-KR" altLang="en-US" sz="1800" dirty="0"/>
              <a:t>가 더 증가될 수록 각각의 </a:t>
            </a:r>
            <a:r>
              <a:rPr lang="en-US" altLang="ko-KR" sz="1800" dirty="0"/>
              <a:t>tier</a:t>
            </a:r>
            <a:r>
              <a:rPr lang="ko-KR" altLang="en-US" sz="1800" dirty="0"/>
              <a:t>에 대한 가용성이 전체 시스템의 가용성에 영향을 미친다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4F1D9219-BCC5-2365-20DB-1BCD4259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3-tier Architecture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836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5256584" cy="3895278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Components</a:t>
            </a:r>
            <a:endParaRPr lang="en-US" altLang="ko-KR" sz="1800" b="1" dirty="0">
              <a:solidFill>
                <a:srgbClr val="FF0000"/>
              </a:solidFill>
            </a:endParaRP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</a:t>
            </a:r>
            <a:r>
              <a:rPr lang="en-US" altLang="ko-KR" sz="1600" b="1" dirty="0"/>
              <a:t>Servers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Register with broker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Present method interfaces to clients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400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</a:t>
            </a:r>
            <a:r>
              <a:rPr lang="en-US" altLang="ko-KR" sz="1600" b="1" dirty="0"/>
              <a:t>Clients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Access server’s methods via broker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Uses same form to call server’s methods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</a:t>
            </a:r>
            <a:r>
              <a:rPr lang="en-US" altLang="ko-KR" sz="1600" b="1" dirty="0"/>
              <a:t>Broker’s Tasks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Locating appropriate server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Forwarding requests 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ㆍ</a:t>
            </a:r>
            <a:r>
              <a:rPr lang="en-US" altLang="ko-KR" sz="1400" dirty="0"/>
              <a:t>Transmitting results and exceptions to client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Broker Architecture Style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829989" y="206519"/>
            <a:ext cx="18464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Architecture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273398"/>
            <a:ext cx="4521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90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Broker </a:t>
            </a:r>
            <a:r>
              <a:rPr lang="ko-KR" altLang="en-US" sz="1800" dirty="0"/>
              <a:t>스타일은 </a:t>
            </a:r>
            <a:r>
              <a:rPr lang="en-US" altLang="ko-KR" sz="1800" dirty="0"/>
              <a:t>broke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clien</a:t>
            </a:r>
            <a:r>
              <a:rPr lang="ko-KR" altLang="en-US" sz="1800" dirty="0"/>
              <a:t>와 </a:t>
            </a:r>
            <a:r>
              <a:rPr lang="en-US" altLang="ko-KR" sz="1800" dirty="0"/>
              <a:t>serve</a:t>
            </a:r>
            <a:r>
              <a:rPr lang="ko-KR" altLang="en-US" sz="1800" dirty="0"/>
              <a:t>사이에서 통신을 중재하는 역할을 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Server</a:t>
            </a:r>
            <a:r>
              <a:rPr lang="ko-KR" altLang="en-US" sz="1800" dirty="0"/>
              <a:t>는 </a:t>
            </a:r>
            <a:r>
              <a:rPr lang="en-US" altLang="ko-KR" sz="1800" dirty="0"/>
              <a:t>broke</a:t>
            </a:r>
            <a:r>
              <a:rPr lang="ko-KR" altLang="en-US" sz="1800" dirty="0"/>
              <a:t>에 자신을 등록해야 하고 </a:t>
            </a:r>
            <a:r>
              <a:rPr lang="en-US" altLang="ko-KR" sz="1800" dirty="0"/>
              <a:t>broker</a:t>
            </a:r>
            <a:r>
              <a:rPr lang="ko-KR" altLang="en-US" sz="1800" dirty="0"/>
              <a:t>는 </a:t>
            </a:r>
            <a:r>
              <a:rPr lang="en-US" altLang="ko-KR" sz="1800" dirty="0"/>
              <a:t>client</a:t>
            </a:r>
            <a:r>
              <a:rPr lang="ko-KR" altLang="en-US" sz="1800" dirty="0"/>
              <a:t>에 </a:t>
            </a:r>
            <a:r>
              <a:rPr lang="en-US" altLang="ko-KR" sz="1800" dirty="0"/>
              <a:t>interface</a:t>
            </a:r>
            <a:r>
              <a:rPr lang="ko-KR" altLang="en-US" sz="1800" dirty="0"/>
              <a:t>를 </a:t>
            </a:r>
            <a:r>
              <a:rPr lang="en-US" altLang="ko-KR" sz="1800" dirty="0"/>
              <a:t>open</a:t>
            </a:r>
            <a:r>
              <a:rPr lang="ko-KR" altLang="en-US" sz="1800" dirty="0"/>
              <a:t>해야 한다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Broker</a:t>
            </a:r>
            <a:r>
              <a:rPr lang="ko-KR" altLang="en-US" sz="1800" dirty="0"/>
              <a:t>의 역할은 </a:t>
            </a:r>
            <a:r>
              <a:rPr lang="en-US" altLang="ko-KR" sz="1800" dirty="0"/>
              <a:t>client</a:t>
            </a:r>
            <a:r>
              <a:rPr lang="ko-KR" altLang="en-US" sz="1800" dirty="0"/>
              <a:t>요청 시 적절한 </a:t>
            </a:r>
            <a:r>
              <a:rPr lang="en-US" altLang="ko-KR" sz="1800" dirty="0"/>
              <a:t>server</a:t>
            </a:r>
            <a:r>
              <a:rPr lang="ko-KR" altLang="en-US" sz="1800" dirty="0"/>
              <a:t>를 할당해 주고 </a:t>
            </a:r>
            <a:r>
              <a:rPr lang="en-US" altLang="ko-KR" sz="1800" dirty="0"/>
              <a:t>server</a:t>
            </a:r>
            <a:r>
              <a:rPr lang="ko-KR" altLang="en-US" sz="1800" dirty="0"/>
              <a:t>의 응답을 다시 </a:t>
            </a:r>
            <a:r>
              <a:rPr lang="en-US" altLang="ko-KR" sz="1800" dirty="0"/>
              <a:t>client</a:t>
            </a:r>
            <a:r>
              <a:rPr lang="ko-KR" altLang="en-US" sz="1800" dirty="0"/>
              <a:t>에 알려준다</a:t>
            </a:r>
            <a:r>
              <a:rPr lang="en-US" altLang="ko-KR" sz="1800" dirty="0"/>
              <a:t>. 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Client</a:t>
            </a:r>
            <a:r>
              <a:rPr lang="ko-KR" altLang="en-US" sz="1800" dirty="0"/>
              <a:t>는 </a:t>
            </a:r>
            <a:r>
              <a:rPr lang="en-US" altLang="ko-KR" sz="1800" dirty="0"/>
              <a:t>server</a:t>
            </a:r>
            <a:r>
              <a:rPr lang="ko-KR" altLang="en-US" sz="1800" dirty="0"/>
              <a:t>의 위치를 알 필요가 없다</a:t>
            </a:r>
            <a:r>
              <a:rPr lang="en-US" altLang="ko-KR" sz="1800" dirty="0"/>
              <a:t>.  (server</a:t>
            </a:r>
            <a:r>
              <a:rPr lang="ko-KR" altLang="en-US" sz="1800" dirty="0"/>
              <a:t>의 전환이 가능함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서버를 변경하더라도 </a:t>
            </a:r>
            <a:r>
              <a:rPr lang="en-US" altLang="ko-KR" sz="1800" dirty="0"/>
              <a:t>client</a:t>
            </a:r>
            <a:r>
              <a:rPr lang="ko-KR" altLang="en-US" sz="1800" dirty="0"/>
              <a:t>에 미치는 영향이 없다</a:t>
            </a:r>
            <a:r>
              <a:rPr lang="en-US" altLang="ko-KR" sz="1800" dirty="0"/>
              <a:t>. </a:t>
            </a:r>
            <a:r>
              <a:rPr lang="ko-KR" altLang="en-US" sz="1800" dirty="0"/>
              <a:t>브로커의 내부 변화도 </a:t>
            </a:r>
            <a:r>
              <a:rPr lang="en-US" altLang="ko-KR" sz="1800" dirty="0"/>
              <a:t>interface </a:t>
            </a:r>
            <a:r>
              <a:rPr lang="ko-KR" altLang="en-US" sz="1800" dirty="0"/>
              <a:t>변경만 없다면 </a:t>
            </a:r>
            <a:r>
              <a:rPr lang="en-US" altLang="ko-KR" sz="1800" dirty="0"/>
              <a:t>client</a:t>
            </a:r>
            <a:r>
              <a:rPr lang="ko-KR" altLang="en-US" sz="1800" dirty="0"/>
              <a:t>에 미치는 영향은 없다</a:t>
            </a:r>
          </a:p>
          <a:p>
            <a:pPr marL="91463" indent="0">
              <a:buNone/>
            </a:pPr>
            <a:r>
              <a:rPr lang="ko-KR" altLang="en-US" sz="1800" dirty="0"/>
              <a:t>   브로커 시스템을 새로운 환경에 설치하더라도 </a:t>
            </a:r>
            <a:r>
              <a:rPr lang="en-US" altLang="ko-KR" sz="1800" dirty="0"/>
              <a:t>client </a:t>
            </a:r>
            <a:r>
              <a:rPr lang="ko-KR" altLang="en-US" sz="1800" dirty="0"/>
              <a:t>와 서버에 미치는 영향이 적다</a:t>
            </a:r>
          </a:p>
          <a:p>
            <a:pPr marL="91463" indent="0">
              <a:buNone/>
            </a:pPr>
            <a:r>
              <a:rPr lang="ko-KR" altLang="en-US" sz="1800" dirty="0"/>
              <a:t>   브리지를 통해 서로 다른 브로커가 통신할 수 있다</a:t>
            </a:r>
            <a:r>
              <a:rPr lang="en-US" altLang="ko-KR" sz="1800" dirty="0"/>
              <a:t>. (</a:t>
            </a:r>
            <a:r>
              <a:rPr lang="ko-KR" altLang="en-US" sz="1800" dirty="0"/>
              <a:t>브로커는 표준화된 통신 프로토콜을 사용함</a:t>
            </a:r>
            <a:r>
              <a:rPr lang="en-US" altLang="ko-KR" sz="1800" dirty="0"/>
              <a:t>). </a:t>
            </a:r>
            <a:r>
              <a:rPr lang="ko-KR" altLang="en-US" sz="1800" dirty="0"/>
              <a:t>상호운영성이 좋다</a:t>
            </a:r>
          </a:p>
          <a:p>
            <a:pPr marL="91463" indent="0">
              <a:buNone/>
            </a:pPr>
            <a:r>
              <a:rPr lang="ko-KR" altLang="en-US" sz="1800" dirty="0"/>
              <a:t>   재사용성이 좋다</a:t>
            </a:r>
          </a:p>
          <a:p>
            <a:pPr marL="91463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untime</a:t>
            </a:r>
            <a:r>
              <a:rPr lang="ko-KR" altLang="en-US" sz="1800" dirty="0"/>
              <a:t>에 서버를 수 변경할 있다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효율성이 떨어진다</a:t>
            </a:r>
          </a:p>
          <a:p>
            <a:pPr marL="91463" indent="0">
              <a:buNone/>
            </a:pPr>
            <a:r>
              <a:rPr lang="ko-KR" altLang="en-US" sz="1800" dirty="0"/>
              <a:t>   프로그램 실행 중에 서버나 브로커의 문제가 발생하면 가용성이 떨어진다</a:t>
            </a:r>
            <a:r>
              <a:rPr lang="en-US" altLang="ko-KR" sz="1800" dirty="0"/>
              <a:t>.  (</a:t>
            </a:r>
            <a:r>
              <a:rPr lang="ko-KR" altLang="en-US" sz="1800" dirty="0"/>
              <a:t>이중화는 가능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테스트나 디버깅이 어렵다</a:t>
            </a:r>
            <a:r>
              <a:rPr lang="en-US" altLang="ko-KR" sz="1800" dirty="0"/>
              <a:t>. </a:t>
            </a:r>
            <a:r>
              <a:rPr lang="ko-KR" altLang="en-US" sz="1800" dirty="0"/>
              <a:t>컴포넌트 개수가 더 많고 계층이 더 복잡함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24670EA8-A48B-FD21-6A6E-88097809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Broker Architecture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5015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b="1" dirty="0"/>
              <a:t>The Dispatcher style introduces an intermediate layer between clients and servers, the dispatcher component.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A lightweight version of the Direct Communication Broker variant</a:t>
            </a:r>
          </a:p>
          <a:p>
            <a:pPr marL="271463" lvl="1">
              <a:lnSpc>
                <a:spcPct val="100000"/>
              </a:lnSpc>
            </a:pPr>
            <a:r>
              <a:rPr lang="en-US" altLang="ko-KR" b="1" dirty="0"/>
              <a:t>Clients rely on the dispatcher to locate a particular server and to establish a communication link with the server.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Dispatcher Style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829989" y="206519"/>
            <a:ext cx="18464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Architecture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714441" y="2931790"/>
            <a:ext cx="3109783" cy="1252153"/>
            <a:chOff x="1235676" y="4835609"/>
            <a:chExt cx="3109783" cy="1252153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1235676" y="4835610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Client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1235676" y="5618205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Client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3620530" y="4835609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Server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3620530" y="5618204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 dirty="0">
                  <a:latin typeface="Arial" charset="0"/>
                  <a:ea typeface="굴림" pitchFamily="50" charset="-127"/>
                </a:rPr>
                <a:t>Server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 bwMode="auto">
            <a:xfrm>
              <a:off x="2436340" y="5191165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Broker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10" name="직선 연결선 9"/>
            <p:cNvCxnSpPr>
              <a:stCxn id="5" idx="3"/>
              <a:endCxn id="9" idx="1"/>
            </p:cNvCxnSpPr>
            <p:nvPr/>
          </p:nvCxnSpPr>
          <p:spPr bwMode="auto">
            <a:xfrm>
              <a:off x="1960605" y="5070389"/>
              <a:ext cx="475735" cy="355555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직선 연결선 10"/>
            <p:cNvCxnSpPr>
              <a:stCxn id="6" idx="3"/>
              <a:endCxn id="9" idx="1"/>
            </p:cNvCxnSpPr>
            <p:nvPr/>
          </p:nvCxnSpPr>
          <p:spPr bwMode="auto">
            <a:xfrm flipV="1">
              <a:off x="1960605" y="5425944"/>
              <a:ext cx="475735" cy="42704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직선 연결선 11"/>
            <p:cNvCxnSpPr>
              <a:stCxn id="9" idx="3"/>
              <a:endCxn id="7" idx="1"/>
            </p:cNvCxnSpPr>
            <p:nvPr/>
          </p:nvCxnSpPr>
          <p:spPr bwMode="auto">
            <a:xfrm flipV="1">
              <a:off x="3161269" y="5070388"/>
              <a:ext cx="459261" cy="35555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직선 연결선 12"/>
            <p:cNvCxnSpPr>
              <a:stCxn id="9" idx="3"/>
              <a:endCxn id="8" idx="1"/>
            </p:cNvCxnSpPr>
            <p:nvPr/>
          </p:nvCxnSpPr>
          <p:spPr bwMode="auto">
            <a:xfrm>
              <a:off x="3161269" y="5425944"/>
              <a:ext cx="459261" cy="42703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8" name="그룹 27"/>
          <p:cNvGrpSpPr/>
          <p:nvPr/>
        </p:nvGrpSpPr>
        <p:grpSpPr>
          <a:xfrm>
            <a:off x="4716016" y="2931789"/>
            <a:ext cx="3109784" cy="1252153"/>
            <a:chOff x="6231923" y="4835608"/>
            <a:chExt cx="3109784" cy="1252153"/>
          </a:xfrm>
        </p:grpSpPr>
        <p:sp>
          <p:nvSpPr>
            <p:cNvPr id="14" name="직사각형 13"/>
            <p:cNvSpPr/>
            <p:nvPr/>
          </p:nvSpPr>
          <p:spPr bwMode="auto">
            <a:xfrm>
              <a:off x="6231924" y="4835609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Client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6231924" y="5618204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Client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 bwMode="auto">
            <a:xfrm>
              <a:off x="8616778" y="4835608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Server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 bwMode="auto">
            <a:xfrm>
              <a:off x="8616778" y="5618203"/>
              <a:ext cx="724929" cy="46955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200" b="1" dirty="0">
                  <a:latin typeface="Arial" charset="0"/>
                  <a:ea typeface="굴림" pitchFamily="50" charset="-127"/>
                </a:rPr>
                <a:t>Server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 bwMode="auto">
            <a:xfrm>
              <a:off x="7289455" y="5191164"/>
              <a:ext cx="994720" cy="469557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Dispatcher</a:t>
              </a: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19" name="직선 연결선 18"/>
            <p:cNvCxnSpPr>
              <a:stCxn id="14" idx="3"/>
              <a:endCxn id="18" idx="1"/>
            </p:cNvCxnSpPr>
            <p:nvPr/>
          </p:nvCxnSpPr>
          <p:spPr bwMode="auto">
            <a:xfrm>
              <a:off x="6956853" y="5070388"/>
              <a:ext cx="332602" cy="355555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직선 연결선 19"/>
            <p:cNvCxnSpPr>
              <a:stCxn id="15" idx="3"/>
              <a:endCxn id="18" idx="1"/>
            </p:cNvCxnSpPr>
            <p:nvPr/>
          </p:nvCxnSpPr>
          <p:spPr bwMode="auto">
            <a:xfrm flipV="1">
              <a:off x="6956853" y="5425943"/>
              <a:ext cx="332602" cy="42704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직선 연결선 20"/>
            <p:cNvCxnSpPr>
              <a:stCxn id="18" idx="3"/>
              <a:endCxn id="16" idx="1"/>
            </p:cNvCxnSpPr>
            <p:nvPr/>
          </p:nvCxnSpPr>
          <p:spPr bwMode="auto">
            <a:xfrm flipV="1">
              <a:off x="8284175" y="5070387"/>
              <a:ext cx="332603" cy="355556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직선 연결선 21"/>
            <p:cNvCxnSpPr>
              <a:stCxn id="18" idx="3"/>
              <a:endCxn id="17" idx="1"/>
            </p:cNvCxnSpPr>
            <p:nvPr/>
          </p:nvCxnSpPr>
          <p:spPr bwMode="auto">
            <a:xfrm>
              <a:off x="8284175" y="5425943"/>
              <a:ext cx="332603" cy="42703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꺾인 연결선 22"/>
            <p:cNvCxnSpPr>
              <a:stCxn id="14" idx="0"/>
              <a:endCxn id="16" idx="0"/>
            </p:cNvCxnSpPr>
            <p:nvPr/>
          </p:nvCxnSpPr>
          <p:spPr bwMode="auto">
            <a:xfrm rot="5400000" flipH="1" flipV="1">
              <a:off x="7786816" y="3643182"/>
              <a:ext cx="1" cy="2384854"/>
            </a:xfrm>
            <a:prstGeom prst="bentConnector3">
              <a:avLst>
                <a:gd name="adj1" fmla="val 2286010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꺾인 연결선 23"/>
            <p:cNvCxnSpPr>
              <a:stCxn id="15" idx="2"/>
              <a:endCxn id="17" idx="2"/>
            </p:cNvCxnSpPr>
            <p:nvPr/>
          </p:nvCxnSpPr>
          <p:spPr bwMode="auto">
            <a:xfrm rot="5400000" flipH="1" flipV="1">
              <a:off x="7786815" y="4895334"/>
              <a:ext cx="1" cy="2384854"/>
            </a:xfrm>
            <a:prstGeom prst="bentConnector3">
              <a:avLst>
                <a:gd name="adj1" fmla="val -2286000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꺾인 연결선 24"/>
            <p:cNvCxnSpPr>
              <a:stCxn id="14" idx="1"/>
              <a:endCxn id="17" idx="3"/>
            </p:cNvCxnSpPr>
            <p:nvPr/>
          </p:nvCxnSpPr>
          <p:spPr bwMode="auto">
            <a:xfrm rot="10800000" flipH="1" flipV="1">
              <a:off x="6231923" y="5070388"/>
              <a:ext cx="3109783" cy="782594"/>
            </a:xfrm>
            <a:prstGeom prst="bentConnector5">
              <a:avLst>
                <a:gd name="adj1" fmla="val -7351"/>
                <a:gd name="adj2" fmla="val 192105"/>
                <a:gd name="adj3" fmla="val 107351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꺾인 연결선 25"/>
            <p:cNvCxnSpPr>
              <a:stCxn id="15" idx="1"/>
              <a:endCxn id="16" idx="3"/>
            </p:cNvCxnSpPr>
            <p:nvPr/>
          </p:nvCxnSpPr>
          <p:spPr bwMode="auto">
            <a:xfrm rot="10800000" flipH="1">
              <a:off x="6231923" y="5070387"/>
              <a:ext cx="3109783" cy="782596"/>
            </a:xfrm>
            <a:prstGeom prst="bentConnector5">
              <a:avLst>
                <a:gd name="adj1" fmla="val -11854"/>
                <a:gd name="adj2" fmla="val 176315"/>
                <a:gd name="adj3" fmla="val 107351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71625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Dispatcher </a:t>
            </a:r>
            <a:r>
              <a:rPr lang="ko-KR" altLang="en-US" sz="1800" dirty="0"/>
              <a:t>스타일은 브로커 스타일의 변형 스타일</a:t>
            </a:r>
            <a:r>
              <a:rPr lang="en-US" altLang="ko-KR" sz="1800" dirty="0"/>
              <a:t>.</a:t>
            </a:r>
          </a:p>
          <a:p>
            <a:pPr marL="91463" indent="0">
              <a:buNone/>
            </a:pPr>
            <a:r>
              <a:rPr lang="en-US" altLang="ko-KR" sz="1800" dirty="0"/>
              <a:t>  Dispatcher</a:t>
            </a:r>
            <a:r>
              <a:rPr lang="ko-KR" altLang="en-US" sz="1800" dirty="0"/>
              <a:t>의 역할은 </a:t>
            </a:r>
            <a:r>
              <a:rPr lang="en-US" altLang="ko-KR" sz="1800" dirty="0"/>
              <a:t>client</a:t>
            </a:r>
            <a:r>
              <a:rPr lang="ko-KR" altLang="en-US" sz="1800" dirty="0"/>
              <a:t>와 </a:t>
            </a:r>
            <a:r>
              <a:rPr lang="en-US" altLang="ko-KR" sz="1800" dirty="0"/>
              <a:t>server</a:t>
            </a:r>
            <a:r>
              <a:rPr lang="ko-KR" altLang="en-US" sz="1800" dirty="0"/>
              <a:t>의 </a:t>
            </a:r>
            <a:r>
              <a:rPr lang="en-US" altLang="ko-KR" sz="1800" dirty="0"/>
              <a:t>connection</a:t>
            </a:r>
            <a:r>
              <a:rPr lang="ko-KR" altLang="en-US" sz="1800" dirty="0"/>
              <a:t>을 알려줌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Server</a:t>
            </a:r>
            <a:r>
              <a:rPr lang="ko-KR" altLang="en-US" sz="1800" dirty="0"/>
              <a:t>의 추가나 교체가 용이하다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Client</a:t>
            </a:r>
            <a:r>
              <a:rPr lang="ko-KR" altLang="en-US" sz="1800" dirty="0"/>
              <a:t>가 </a:t>
            </a:r>
            <a:r>
              <a:rPr lang="en-US" altLang="ko-KR" sz="1800" dirty="0"/>
              <a:t>server</a:t>
            </a:r>
            <a:r>
              <a:rPr lang="ko-KR" altLang="en-US" sz="1800" dirty="0"/>
              <a:t>에 연결되어 있지 않은 시점이라면 동적인 서버의 교체가 가능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Server </a:t>
            </a:r>
            <a:r>
              <a:rPr lang="ko-KR" altLang="en-US" sz="1800" dirty="0"/>
              <a:t>구성이 </a:t>
            </a:r>
            <a:r>
              <a:rPr lang="en-US" altLang="ko-KR" sz="1800" dirty="0"/>
              <a:t>reconfigurable </a:t>
            </a:r>
            <a:r>
              <a:rPr lang="ko-KR" altLang="en-US" sz="1800" dirty="0"/>
              <a:t>하다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서버에 대한 </a:t>
            </a:r>
            <a:r>
              <a:rPr lang="en-US" altLang="ko-KR" sz="1800" dirty="0"/>
              <a:t>fault tolerance</a:t>
            </a:r>
          </a:p>
          <a:p>
            <a:pPr marL="91463" indent="0">
              <a:buNone/>
            </a:pPr>
            <a:r>
              <a:rPr lang="en-US" altLang="ko-KR" sz="1800" dirty="0"/>
              <a:t>   Dispatcher</a:t>
            </a:r>
            <a:r>
              <a:rPr lang="ko-KR" altLang="en-US" sz="1800" dirty="0"/>
              <a:t>가 </a:t>
            </a:r>
            <a:r>
              <a:rPr lang="en-US" altLang="ko-KR" sz="1800" dirty="0"/>
              <a:t>gate keeper </a:t>
            </a:r>
            <a:r>
              <a:rPr lang="ko-KR" altLang="en-US" sz="1800" dirty="0"/>
              <a:t>역할 수행 가능 </a:t>
            </a:r>
            <a:r>
              <a:rPr lang="en-US" altLang="ko-KR" sz="1800" dirty="0"/>
              <a:t>(security).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Dispatcher</a:t>
            </a:r>
            <a:r>
              <a:rPr lang="ko-KR" altLang="en-US" sz="1800" dirty="0"/>
              <a:t>에 대한 </a:t>
            </a:r>
            <a:r>
              <a:rPr lang="en-US" altLang="ko-KR" sz="1800" dirty="0"/>
              <a:t>overhead</a:t>
            </a:r>
            <a:r>
              <a:rPr lang="ko-KR" altLang="en-US" sz="1800" dirty="0"/>
              <a:t>가 존재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Dispatcher</a:t>
            </a:r>
            <a:r>
              <a:rPr lang="ko-KR" altLang="en-US" sz="1800" dirty="0"/>
              <a:t>의 변경에 대해서는 </a:t>
            </a:r>
            <a:r>
              <a:rPr lang="en-US" altLang="ko-KR" sz="1800" dirty="0"/>
              <a:t>system</a:t>
            </a:r>
            <a:r>
              <a:rPr lang="ko-KR" altLang="en-US" sz="1800" dirty="0"/>
              <a:t>의 영향이 존재한다</a:t>
            </a:r>
            <a:r>
              <a:rPr lang="en-US" altLang="ko-KR" sz="1800" dirty="0"/>
              <a:t>..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EF0A2D2A-F449-017B-6867-CFC49C23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Dispatcher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465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20" y="1653622"/>
            <a:ext cx="7543496" cy="3222384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A </a:t>
            </a:r>
            <a:r>
              <a:rPr lang="en-US" altLang="ko-KR" sz="1800" dirty="0" err="1"/>
              <a:t>microservices</a:t>
            </a:r>
            <a:r>
              <a:rPr lang="en-US" altLang="ko-KR" sz="1800" dirty="0"/>
              <a:t> architecture consists </a:t>
            </a:r>
            <a:r>
              <a:rPr lang="en-US" altLang="ko-KR" sz="1800" b="1" dirty="0">
                <a:solidFill>
                  <a:srgbClr val="4156BD"/>
                </a:solidFill>
              </a:rPr>
              <a:t>of a collection of small, autonomous services. 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Each service is </a:t>
            </a:r>
            <a:r>
              <a:rPr lang="en-US" altLang="ko-KR" sz="1600" dirty="0">
                <a:solidFill>
                  <a:srgbClr val="4156BD"/>
                </a:solidFill>
              </a:rPr>
              <a:t>self-contained</a:t>
            </a:r>
            <a:r>
              <a:rPr lang="en-US" altLang="ko-KR" sz="1600" dirty="0"/>
              <a:t> and implements </a:t>
            </a:r>
            <a:r>
              <a:rPr lang="en-US" altLang="ko-KR" sz="1600" dirty="0">
                <a:solidFill>
                  <a:srgbClr val="4156BD"/>
                </a:solidFill>
              </a:rPr>
              <a:t>a single business capability.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Microservice</a:t>
            </a:r>
            <a:r>
              <a:rPr lang="en-US" altLang="ko-KR" dirty="0"/>
              <a:t> Style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829989" y="206519"/>
            <a:ext cx="18464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632" y="4659982"/>
            <a:ext cx="609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100" dirty="0"/>
              <a:t>https://</a:t>
            </a:r>
            <a:r>
              <a:rPr kumimoji="1" lang="en-US" altLang="ko-KR" sz="1100" dirty="0" err="1"/>
              <a:t>docs.microsoft.com</a:t>
            </a:r>
            <a:r>
              <a:rPr kumimoji="1" lang="en-US" altLang="ko-KR" sz="1100" dirty="0"/>
              <a:t>/</a:t>
            </a:r>
            <a:r>
              <a:rPr kumimoji="1" lang="en-US" altLang="ko-KR" sz="1100" dirty="0" err="1"/>
              <a:t>ko-kr</a:t>
            </a:r>
            <a:r>
              <a:rPr kumimoji="1" lang="en-US" altLang="ko-KR" sz="1100" dirty="0"/>
              <a:t>/azure/architecture/guide/architecture-styles/</a:t>
            </a:r>
            <a:r>
              <a:rPr kumimoji="1" lang="en-US" altLang="ko-KR" sz="1100" dirty="0" err="1"/>
              <a:t>microservices</a:t>
            </a:r>
            <a:endParaRPr kumimoji="1"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583019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550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</a:t>
            </a:r>
            <a:r>
              <a:rPr lang="ko-KR" altLang="en-US" sz="1800" dirty="0"/>
              <a:t>각각이 독립적이고 단일 비즈니스 기능을 가진 작은 단위의 서비스의 조합으로 시스템을 구성</a:t>
            </a:r>
          </a:p>
          <a:p>
            <a:pPr marL="91463" indent="0">
              <a:buNone/>
            </a:pPr>
            <a:r>
              <a:rPr lang="en-US" altLang="ko-KR" sz="1800" dirty="0"/>
              <a:t>  Client</a:t>
            </a:r>
            <a:r>
              <a:rPr lang="ko-KR" altLang="en-US" sz="1800" dirty="0"/>
              <a:t>는 </a:t>
            </a:r>
            <a:r>
              <a:rPr lang="en-US" altLang="ko-KR" sz="1800" dirty="0"/>
              <a:t>API gate way</a:t>
            </a:r>
            <a:r>
              <a:rPr lang="ko-KR" altLang="en-US" sz="1800" dirty="0"/>
              <a:t>를 통해서 </a:t>
            </a:r>
            <a:r>
              <a:rPr lang="en-US" altLang="ko-KR" sz="1800" dirty="0"/>
              <a:t>micro service</a:t>
            </a:r>
            <a:r>
              <a:rPr lang="ko-KR" altLang="en-US" sz="1800" dirty="0"/>
              <a:t>에 접근</a:t>
            </a:r>
          </a:p>
          <a:p>
            <a:pPr marL="91463" indent="0">
              <a:buNone/>
            </a:pPr>
            <a:r>
              <a:rPr lang="en-US" altLang="ko-KR" sz="1800" dirty="0"/>
              <a:t>  Management</a:t>
            </a:r>
            <a:r>
              <a:rPr lang="ko-KR" altLang="en-US" sz="1800" dirty="0"/>
              <a:t>는 </a:t>
            </a:r>
            <a:r>
              <a:rPr lang="en-US" altLang="ko-KR" sz="1800" dirty="0"/>
              <a:t>microservice</a:t>
            </a:r>
            <a:r>
              <a:rPr lang="ko-KR" altLang="en-US" sz="1800" dirty="0"/>
              <a:t>의 </a:t>
            </a:r>
            <a:r>
              <a:rPr lang="en-US" altLang="ko-KR" sz="1800" dirty="0"/>
              <a:t>node</a:t>
            </a:r>
            <a:r>
              <a:rPr lang="ko-KR" altLang="en-US" sz="1800" dirty="0"/>
              <a:t>들을 관리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민첩성 </a:t>
            </a:r>
            <a:r>
              <a:rPr lang="en-US" altLang="ko-KR" sz="1800" dirty="0"/>
              <a:t>, </a:t>
            </a:r>
            <a:r>
              <a:rPr lang="ko-KR" altLang="en-US" sz="1800" dirty="0"/>
              <a:t>마이크로 서비스가 독립적으로 배포되기 때문에 기능 업그레이드 및 수정이 빠르게 이루어진다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feature</a:t>
            </a:r>
            <a:r>
              <a:rPr lang="ko-KR" altLang="en-US" sz="1800" dirty="0"/>
              <a:t>를 제공하는 것이 매우 쉽다 </a:t>
            </a:r>
            <a:r>
              <a:rPr lang="en-US" altLang="ko-KR" sz="1800" dirty="0"/>
              <a:t>data</a:t>
            </a:r>
            <a:r>
              <a:rPr lang="ko-KR" altLang="en-US" sz="1800" dirty="0"/>
              <a:t>나 </a:t>
            </a:r>
            <a:r>
              <a:rPr lang="en-US" altLang="ko-KR" sz="1800" dirty="0"/>
              <a:t>lib</a:t>
            </a:r>
            <a:r>
              <a:rPr lang="ko-KR" altLang="en-US" sz="1800" dirty="0"/>
              <a:t>를 공유하지 않음</a:t>
            </a:r>
          </a:p>
          <a:p>
            <a:pPr marL="91463" indent="0">
              <a:buNone/>
            </a:pPr>
            <a:r>
              <a:rPr lang="ko-KR" altLang="en-US" sz="1800" dirty="0"/>
              <a:t>   특정 </a:t>
            </a:r>
            <a:r>
              <a:rPr lang="en-US" altLang="ko-KR" sz="1800" dirty="0"/>
              <a:t>micro </a:t>
            </a:r>
            <a:r>
              <a:rPr lang="ko-KR" altLang="en-US" sz="1800" dirty="0"/>
              <a:t>서비스에만 </a:t>
            </a:r>
            <a:r>
              <a:rPr lang="en-US" altLang="ko-KR" sz="1800" dirty="0"/>
              <a:t>fault</a:t>
            </a:r>
            <a:r>
              <a:rPr lang="ko-KR" altLang="en-US" sz="1800" dirty="0"/>
              <a:t>가 한정됨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Scalability</a:t>
            </a:r>
            <a:r>
              <a:rPr lang="ko-KR" altLang="en-US" sz="1800" dirty="0"/>
              <a:t>가 쉽게 구현된다</a:t>
            </a:r>
            <a:r>
              <a:rPr lang="en-US" altLang="ko-KR" sz="1800" dirty="0"/>
              <a:t>. </a:t>
            </a:r>
            <a:r>
              <a:rPr lang="ko-KR" altLang="en-US" sz="1800" dirty="0"/>
              <a:t>해당 </a:t>
            </a:r>
            <a:r>
              <a:rPr lang="en-US" altLang="ko-KR" sz="1800" dirty="0"/>
              <a:t>microservice</a:t>
            </a:r>
            <a:r>
              <a:rPr lang="ko-KR" altLang="en-US" sz="1800" dirty="0"/>
              <a:t>만 확장</a:t>
            </a: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Data isolation (</a:t>
            </a:r>
            <a:r>
              <a:rPr lang="ko-KR" altLang="en-US" sz="1800" dirty="0"/>
              <a:t>각각의 </a:t>
            </a:r>
            <a:r>
              <a:rPr lang="en-US" altLang="ko-KR" sz="1800" dirty="0"/>
              <a:t>microservice</a:t>
            </a:r>
            <a:r>
              <a:rPr lang="ko-KR" altLang="en-US" sz="1800" dirty="0"/>
              <a:t>가 각각 </a:t>
            </a:r>
            <a:r>
              <a:rPr lang="en-US" altLang="ko-KR" sz="1800" dirty="0"/>
              <a:t>data</a:t>
            </a:r>
            <a:r>
              <a:rPr lang="ko-KR" altLang="en-US" sz="1800" dirty="0"/>
              <a:t>를 가지고 있다</a:t>
            </a:r>
            <a:r>
              <a:rPr lang="en-US" altLang="ko-KR" sz="1800" dirty="0"/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   </a:t>
            </a:r>
            <a:r>
              <a:rPr lang="ko-KR" altLang="en-US" sz="1800" dirty="0"/>
              <a:t>복잡도가 증가한다</a:t>
            </a:r>
            <a:r>
              <a:rPr lang="en-US" altLang="ko-KR" sz="1800" dirty="0"/>
              <a:t>.</a:t>
            </a:r>
          </a:p>
          <a:p>
            <a:pPr marL="91463" indent="0">
              <a:buNone/>
            </a:pPr>
            <a:r>
              <a:rPr lang="en-US" altLang="ko-KR" sz="1800" dirty="0"/>
              <a:t>      </a:t>
            </a:r>
            <a:r>
              <a:rPr lang="ko-KR" altLang="en-US" sz="1800" dirty="0"/>
              <a:t>테스트가 어렵다</a:t>
            </a:r>
            <a:r>
              <a:rPr lang="en-US" altLang="ko-KR" sz="1800" dirty="0"/>
              <a:t>. </a:t>
            </a:r>
            <a:r>
              <a:rPr lang="ko-KR" altLang="en-US" sz="1800" dirty="0"/>
              <a:t>개별적인 </a:t>
            </a:r>
            <a:r>
              <a:rPr lang="en-US" altLang="ko-KR" sz="1800" dirty="0"/>
              <a:t>microservice</a:t>
            </a:r>
            <a:r>
              <a:rPr lang="ko-KR" altLang="en-US" sz="1800" dirty="0"/>
              <a:t>의 테스트는 쉽지만 상호작용의 테스트는 쉽지 않다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r>
              <a:rPr lang="en-US" altLang="ko-KR" sz="1800" dirty="0"/>
              <a:t>      </a:t>
            </a:r>
            <a:r>
              <a:rPr lang="ko-KR" altLang="en-US" sz="1800" dirty="0"/>
              <a:t>많은 서비스 간의  통신 필요할 수 있어 </a:t>
            </a:r>
            <a:r>
              <a:rPr lang="en-US" altLang="ko-KR" sz="1800" dirty="0"/>
              <a:t>latency</a:t>
            </a:r>
            <a:r>
              <a:rPr lang="ko-KR" altLang="en-US" sz="1800" dirty="0"/>
              <a:t>가 길어질 수 있다</a:t>
            </a:r>
          </a:p>
          <a:p>
            <a:pPr marL="91463" indent="0">
              <a:buNone/>
            </a:pPr>
            <a:r>
              <a:rPr lang="ko-KR" altLang="en-US" sz="1800" dirty="0"/>
              <a:t>      </a:t>
            </a:r>
            <a:r>
              <a:rPr lang="en-US" altLang="ko-KR" sz="1800" dirty="0"/>
              <a:t>Data</a:t>
            </a:r>
            <a:r>
              <a:rPr lang="ko-KR" altLang="en-US" sz="1800" dirty="0"/>
              <a:t>에 대한 일관성의 결여 </a:t>
            </a:r>
            <a:r>
              <a:rPr lang="en-US" altLang="ko-KR" sz="1800" dirty="0"/>
              <a:t>(</a:t>
            </a:r>
            <a:r>
              <a:rPr lang="ko-KR" altLang="en-US" sz="1800" dirty="0"/>
              <a:t>각 </a:t>
            </a:r>
            <a:r>
              <a:rPr lang="en-US" altLang="ko-KR" sz="1800" dirty="0"/>
              <a:t>microservice</a:t>
            </a:r>
            <a:r>
              <a:rPr lang="ko-KR" altLang="en-US" sz="1800" dirty="0"/>
              <a:t>가 별도로 </a:t>
            </a:r>
            <a:r>
              <a:rPr lang="en-US" altLang="ko-KR" sz="1800" dirty="0"/>
              <a:t>data</a:t>
            </a:r>
            <a:r>
              <a:rPr lang="ko-KR" altLang="en-US" sz="1800" dirty="0"/>
              <a:t>를 관리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   </a:t>
            </a:r>
            <a:r>
              <a:rPr lang="ko-KR" altLang="en-US" sz="1800" dirty="0"/>
              <a:t>여러 </a:t>
            </a:r>
            <a:r>
              <a:rPr lang="en-US" altLang="ko-KR" sz="1800" dirty="0"/>
              <a:t>service</a:t>
            </a:r>
            <a:r>
              <a:rPr lang="ko-KR" altLang="en-US" sz="1800" dirty="0"/>
              <a:t>가 특정시간에 </a:t>
            </a:r>
            <a:r>
              <a:rPr lang="en-US" altLang="ko-KR" sz="1800" dirty="0"/>
              <a:t>update</a:t>
            </a:r>
            <a:r>
              <a:rPr lang="ko-KR" altLang="en-US" sz="1800" dirty="0"/>
              <a:t>될 경우 서로 호환성이 깨지지 않도록 잘 관리해야 함</a:t>
            </a:r>
            <a:r>
              <a:rPr lang="en-US" altLang="ko-KR" sz="1800" dirty="0"/>
              <a:t>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E3496940-9819-5A3B-CC61-22222984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 err="1"/>
              <a:t>Microservice</a:t>
            </a:r>
            <a:r>
              <a:rPr lang="en-US" altLang="ko-KR" dirty="0"/>
              <a:t>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0106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908720"/>
            <a:ext cx="6696744" cy="3967286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Components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Device Edge</a:t>
            </a:r>
          </a:p>
          <a:p>
            <a:pPr marL="91463" lvl="1" indent="0">
              <a:lnSpc>
                <a:spcPct val="50000"/>
              </a:lnSpc>
              <a:buNone/>
            </a:pPr>
            <a:r>
              <a:rPr lang="en-US" altLang="ko-KR" sz="1300" dirty="0"/>
              <a:t>     </a:t>
            </a:r>
            <a:r>
              <a:rPr lang="ko-KR" altLang="en-US" sz="1300" dirty="0" err="1"/>
              <a:t>ㆍ</a:t>
            </a:r>
            <a:r>
              <a:rPr lang="en-US" altLang="ko-KR" sz="1300" dirty="0"/>
              <a:t>The actual devices such as cameras, sensors, and other physical devices that gather data or interact </a:t>
            </a:r>
          </a:p>
          <a:p>
            <a:pPr marL="91463" lvl="1" indent="0">
              <a:lnSpc>
                <a:spcPct val="50000"/>
              </a:lnSpc>
              <a:buNone/>
            </a:pPr>
            <a:r>
              <a:rPr lang="en-US" altLang="ko-KR" sz="1300" dirty="0"/>
              <a:t>        with edge data.</a:t>
            </a:r>
          </a:p>
          <a:p>
            <a:pPr>
              <a:lnSpc>
                <a:spcPct val="100000"/>
              </a:lnSpc>
            </a:pPr>
            <a:endParaRPr lang="en-US" altLang="ko-KR" sz="1800" b="1" dirty="0"/>
          </a:p>
          <a:p>
            <a:pPr>
              <a:lnSpc>
                <a:spcPct val="100000"/>
              </a:lnSpc>
            </a:pPr>
            <a:r>
              <a:rPr lang="en-US" altLang="ko-KR" sz="1800" b="1" dirty="0"/>
              <a:t>Local Edge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The systems running on-premises or at the edge of the network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  <a:p>
            <a:pPr>
              <a:lnSpc>
                <a:spcPct val="100000"/>
              </a:lnSpc>
            </a:pPr>
            <a:r>
              <a:rPr lang="en-US" altLang="ko-KR" sz="1800" b="1" dirty="0"/>
              <a:t>Cloud</a:t>
            </a:r>
          </a:p>
          <a:p>
            <a:pPr marL="91463" lvl="1" indent="0">
              <a:lnSpc>
                <a:spcPct val="70000"/>
              </a:lnSpc>
              <a:buNone/>
            </a:pPr>
            <a:r>
              <a:rPr lang="en-US" altLang="ko-KR" sz="1600" dirty="0"/>
              <a:t>   - a public or private cloud</a:t>
            </a:r>
          </a:p>
          <a:p>
            <a:pPr marL="91463" lvl="1" indent="0">
              <a:lnSpc>
                <a:spcPct val="70000"/>
              </a:lnSpc>
              <a:buNone/>
            </a:pPr>
            <a:endParaRPr lang="en-US" altLang="ko-KR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Edge Computing Architecture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829989" y="206519"/>
            <a:ext cx="18464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Architecture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7201837" y="1138603"/>
            <a:ext cx="1402611" cy="3310356"/>
            <a:chOff x="8653806" y="2224725"/>
            <a:chExt cx="1480008" cy="3493023"/>
          </a:xfrm>
        </p:grpSpPr>
        <p:sp>
          <p:nvSpPr>
            <p:cNvPr id="6" name="직사각형 5"/>
            <p:cNvSpPr/>
            <p:nvPr/>
          </p:nvSpPr>
          <p:spPr bwMode="auto">
            <a:xfrm>
              <a:off x="8653806" y="2224725"/>
              <a:ext cx="1480008" cy="62216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Device Edge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8653806" y="3589451"/>
              <a:ext cx="1480008" cy="62216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Local Edge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 bwMode="auto">
            <a:xfrm>
              <a:off x="8653806" y="5095579"/>
              <a:ext cx="1480008" cy="62216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굴림" pitchFamily="50" charset="-127"/>
                </a:rPr>
                <a:t>Cloud</a:t>
              </a:r>
              <a:endParaRPr kumimoji="1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굴림" pitchFamily="50" charset="-127"/>
              </a:endParaRPr>
            </a:p>
          </p:txBody>
        </p:sp>
        <p:cxnSp>
          <p:nvCxnSpPr>
            <p:cNvPr id="9" name="직선 연결선[R] 8"/>
            <p:cNvCxnSpPr>
              <a:stCxn id="7" idx="2"/>
              <a:endCxn id="8" idx="0"/>
            </p:cNvCxnSpPr>
            <p:nvPr/>
          </p:nvCxnSpPr>
          <p:spPr bwMode="auto">
            <a:xfrm>
              <a:off x="9393810" y="4211620"/>
              <a:ext cx="0" cy="883959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0" name="직선 연결선[R] 10"/>
            <p:cNvCxnSpPr>
              <a:stCxn id="6" idx="2"/>
              <a:endCxn id="7" idx="0"/>
            </p:cNvCxnSpPr>
            <p:nvPr/>
          </p:nvCxnSpPr>
          <p:spPr bwMode="auto">
            <a:xfrm>
              <a:off x="9393810" y="2846894"/>
              <a:ext cx="0" cy="742557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9443301" y="4800288"/>
              <a:ext cx="216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/>
                <a:t>1</a:t>
              </a:r>
              <a:endParaRPr kumimoji="1" lang="ko-KR" alt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443301" y="4211620"/>
              <a:ext cx="6905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1..*</a:t>
              </a:r>
              <a:endParaRPr kumimoji="1" lang="ko-KR" alt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443300" y="2856856"/>
              <a:ext cx="690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1</a:t>
              </a:r>
              <a:r>
                <a:rPr kumimoji="1" lang="mr-IN" altLang="ko-KR" sz="1400" dirty="0"/>
                <a:t>…</a:t>
              </a:r>
              <a:r>
                <a:rPr kumimoji="1" lang="en-US" altLang="ko-KR" sz="1400" dirty="0"/>
                <a:t>*</a:t>
              </a:r>
              <a:endParaRPr kumimoji="1" lang="ko-KR" altLang="en-US" sz="14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33873" y="3286243"/>
              <a:ext cx="216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/>
                <a:t>1</a:t>
              </a:r>
              <a:endParaRPr kumimoji="1"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43187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82668561-6C19-B334-6AD9-890AA629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53163"/>
            <a:ext cx="8568952" cy="4568706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1800" b="1" dirty="0">
                <a:solidFill>
                  <a:srgbClr val="4156BD"/>
                </a:solidFill>
              </a:rPr>
              <a:t>특징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Edge based </a:t>
            </a:r>
            <a:r>
              <a:rPr lang="ko-KR" altLang="en-US" sz="1800" dirty="0"/>
              <a:t>스타일</a:t>
            </a:r>
          </a:p>
          <a:p>
            <a:pPr marL="91463" indent="0">
              <a:buNone/>
            </a:pPr>
            <a:r>
              <a:rPr lang="en-US" altLang="ko-KR" sz="1800" dirty="0"/>
              <a:t>  IOT </a:t>
            </a:r>
            <a:r>
              <a:rPr lang="ko-KR" altLang="en-US" sz="1800" dirty="0"/>
              <a:t>기술의 발달로 </a:t>
            </a:r>
            <a:r>
              <a:rPr lang="en-US" altLang="ko-KR" sz="1800" dirty="0"/>
              <a:t>IOT</a:t>
            </a:r>
            <a:r>
              <a:rPr lang="ko-KR" altLang="en-US" sz="1800" dirty="0"/>
              <a:t>기기가 증가함에 따라 </a:t>
            </a:r>
            <a:r>
              <a:rPr lang="en-US" altLang="ko-KR" sz="1800" dirty="0"/>
              <a:t>server</a:t>
            </a:r>
            <a:r>
              <a:rPr lang="ko-KR" altLang="en-US" sz="1800" dirty="0"/>
              <a:t>에서 </a:t>
            </a:r>
            <a:r>
              <a:rPr lang="en-US" altLang="ko-KR" sz="1800" dirty="0"/>
              <a:t>data</a:t>
            </a:r>
            <a:r>
              <a:rPr lang="ko-KR" altLang="en-US" sz="1800" dirty="0"/>
              <a:t>를 처리하는데 한계에 이르게 됨</a:t>
            </a:r>
          </a:p>
          <a:p>
            <a:pPr marL="91463" indent="0">
              <a:buNone/>
            </a:pPr>
            <a:r>
              <a:rPr lang="ko-KR" altLang="en-US" sz="1800" dirty="0"/>
              <a:t>  이에 따라 </a:t>
            </a:r>
            <a:r>
              <a:rPr lang="en-US" altLang="ko-KR" sz="1800" dirty="0"/>
              <a:t>data source</a:t>
            </a:r>
            <a:r>
              <a:rPr lang="ko-KR" altLang="en-US" sz="1800" dirty="0"/>
              <a:t>에서 가까운 곳에서 처리가 가능한 </a:t>
            </a:r>
            <a:r>
              <a:rPr lang="en-US" altLang="ko-KR" sz="1800" dirty="0"/>
              <a:t>data</a:t>
            </a:r>
            <a:r>
              <a:rPr lang="ko-KR" altLang="en-US" sz="1800" dirty="0"/>
              <a:t>처리는 처리하도록 구성</a:t>
            </a:r>
            <a:r>
              <a:rPr lang="en-US" altLang="ko-KR" sz="1800" dirty="0"/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장점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Privacy (data </a:t>
            </a:r>
            <a:r>
              <a:rPr lang="ko-KR" altLang="en-US" sz="1800" dirty="0"/>
              <a:t>노출에 대한 부담을 줄일 수 있다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Speed (</a:t>
            </a:r>
            <a:r>
              <a:rPr lang="ko-KR" altLang="en-US" sz="1800" dirty="0"/>
              <a:t>최종 사용자와 가까운 부분에서 연산을 수행하므로 속도가 빠르다</a:t>
            </a:r>
            <a:r>
              <a:rPr lang="en-US" altLang="ko-KR" sz="1800" dirty="0"/>
              <a:t>)</a:t>
            </a:r>
          </a:p>
          <a:p>
            <a:pPr marL="91463" indent="0">
              <a:buNone/>
            </a:pPr>
            <a:r>
              <a:rPr lang="en-US" altLang="ko-KR" sz="1800" dirty="0"/>
              <a:t>   Availability (</a:t>
            </a:r>
            <a:r>
              <a:rPr lang="ko-KR" altLang="en-US" sz="1800" dirty="0"/>
              <a:t>중앙 서버의 이슈와 무관하게 동작</a:t>
            </a:r>
            <a:r>
              <a:rPr lang="en-US" altLang="ko-KR" sz="1800" dirty="0"/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4156BD"/>
                </a:solidFill>
              </a:rPr>
              <a:t>단점</a:t>
            </a:r>
            <a:endParaRPr lang="en-US" altLang="ko-KR" sz="1800" b="1" dirty="0">
              <a:solidFill>
                <a:srgbClr val="4156BD"/>
              </a:solidFill>
            </a:endParaRPr>
          </a:p>
          <a:p>
            <a:pPr marL="91463" indent="0">
              <a:buNone/>
            </a:pPr>
            <a:r>
              <a:rPr lang="en-US" altLang="ko-KR" sz="1800" dirty="0"/>
              <a:t>   </a:t>
            </a:r>
            <a:r>
              <a:rPr lang="ko-KR" altLang="en-US" sz="1800" dirty="0"/>
              <a:t>사이버 보안 방어가 약해 유출위험이 크다</a:t>
            </a:r>
          </a:p>
          <a:p>
            <a:pPr marL="91463" indent="0">
              <a:buNone/>
            </a:pPr>
            <a:r>
              <a:rPr lang="ko-KR" altLang="en-US" sz="1800" dirty="0"/>
              <a:t>   비용 증가</a:t>
            </a:r>
            <a:r>
              <a:rPr lang="en-US" altLang="ko-KR" sz="1800" dirty="0"/>
              <a:t>(</a:t>
            </a:r>
            <a:r>
              <a:rPr lang="ko-KR" altLang="en-US" sz="1800" dirty="0"/>
              <a:t>로컬 </a:t>
            </a:r>
            <a:r>
              <a:rPr lang="en-US" altLang="ko-KR" sz="1800" dirty="0"/>
              <a:t>storage </a:t>
            </a:r>
            <a:r>
              <a:rPr lang="ko-KR" altLang="en-US" sz="1800" dirty="0"/>
              <a:t>및 </a:t>
            </a:r>
            <a:r>
              <a:rPr lang="en-US" altLang="ko-KR" sz="1800" dirty="0"/>
              <a:t>local server(node) </a:t>
            </a:r>
            <a:r>
              <a:rPr lang="ko-KR" altLang="en-US" sz="1800" dirty="0"/>
              <a:t>구축</a:t>
            </a:r>
            <a:r>
              <a:rPr lang="en-US" altLang="ko-KR" sz="1800" dirty="0"/>
              <a:t>). </a:t>
            </a:r>
          </a:p>
          <a:p>
            <a:pPr marL="91463" indent="0">
              <a:buNone/>
            </a:pPr>
            <a:endParaRPr lang="en-US" altLang="ko-KR" sz="1600" dirty="0"/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53EBE1F3-83B3-A34B-31B7-936F3458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72" y="21631"/>
            <a:ext cx="8430220" cy="531531"/>
          </a:xfrm>
        </p:spPr>
        <p:txBody>
          <a:bodyPr/>
          <a:lstStyle/>
          <a:p>
            <a:r>
              <a:rPr lang="en-US" altLang="ko-KR" dirty="0"/>
              <a:t>Edge Computing Architecture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062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</TotalTime>
  <Words>4046</Words>
  <Application>Microsoft Office PowerPoint</Application>
  <PresentationFormat>화면 슬라이드 쇼(16:9)</PresentationFormat>
  <Paragraphs>620</Paragraphs>
  <Slides>46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굴림</vt:lpstr>
      <vt:lpstr>맑은 고딕</vt:lpstr>
      <vt:lpstr>샘물체</vt:lpstr>
      <vt:lpstr>Arial</vt:lpstr>
      <vt:lpstr>Office 테마</vt:lpstr>
      <vt:lpstr>Architecture Design</vt:lpstr>
      <vt:lpstr>Batch Sequential Styles</vt:lpstr>
      <vt:lpstr>Batch Sequential Styles</vt:lpstr>
      <vt:lpstr>Pipe and Filter Style</vt:lpstr>
      <vt:lpstr>Pipe and Filter Style</vt:lpstr>
      <vt:lpstr>Process Control Style</vt:lpstr>
      <vt:lpstr>Process Control Style</vt:lpstr>
      <vt:lpstr>Repository Style</vt:lpstr>
      <vt:lpstr>Repository Style</vt:lpstr>
      <vt:lpstr>Blackboard Style</vt:lpstr>
      <vt:lpstr>Blackboard Style</vt:lpstr>
      <vt:lpstr>Non-buffered Event-Based Style</vt:lpstr>
      <vt:lpstr>Non-buffered Event-Based Style</vt:lpstr>
      <vt:lpstr>Buffered Message-Based Style</vt:lpstr>
      <vt:lpstr>Buffered Message-Based Style</vt:lpstr>
      <vt:lpstr>Model-View-Controller Style</vt:lpstr>
      <vt:lpstr>Model-View-Controller Style</vt:lpstr>
      <vt:lpstr>Presentation-Abstraction-Control Style</vt:lpstr>
      <vt:lpstr>Presentation-Abstraction-Control Style</vt:lpstr>
      <vt:lpstr>Main-Subroutine Style</vt:lpstr>
      <vt:lpstr>Main-Subroutine Style</vt:lpstr>
      <vt:lpstr>Master-Slave Style</vt:lpstr>
      <vt:lpstr>Master-Slave Style</vt:lpstr>
      <vt:lpstr>Layered Style</vt:lpstr>
      <vt:lpstr>Layered Style</vt:lpstr>
      <vt:lpstr>Virtual Machine</vt:lpstr>
      <vt:lpstr>Virtual Machine</vt:lpstr>
      <vt:lpstr>Microkernel Style</vt:lpstr>
      <vt:lpstr>Microkernel Style</vt:lpstr>
      <vt:lpstr>MVC Style의 Variations</vt:lpstr>
      <vt:lpstr>MVC 스타일                                                  참조 : https://beomy.tistory.com/43</vt:lpstr>
      <vt:lpstr>MVP 스타일                                                  참조 : https://beomy.tistory.com/43</vt:lpstr>
      <vt:lpstr>MVVM 스타일                                               참조 : https://beomy.tistory.com/43</vt:lpstr>
      <vt:lpstr>MVC Style의 Variations</vt:lpstr>
      <vt:lpstr>Client-Server Style</vt:lpstr>
      <vt:lpstr>Client-Server Style</vt:lpstr>
      <vt:lpstr>3-tier Architecture Style</vt:lpstr>
      <vt:lpstr>3-tier Architecture Style</vt:lpstr>
      <vt:lpstr>Broker Architecture Style</vt:lpstr>
      <vt:lpstr>Broker Architecture Style</vt:lpstr>
      <vt:lpstr>Dispatcher Style</vt:lpstr>
      <vt:lpstr>Dispatcher Style</vt:lpstr>
      <vt:lpstr>Microservice Style</vt:lpstr>
      <vt:lpstr>Microservice Style</vt:lpstr>
      <vt:lpstr>Edge Computing Architecture</vt:lpstr>
      <vt:lpstr>Edge Computing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강의 제목 입력</dc:title>
  <dc:creator>강혜진</dc:creator>
  <cp:lastModifiedBy>HJ Lee</cp:lastModifiedBy>
  <cp:revision>266</cp:revision>
  <dcterms:created xsi:type="dcterms:W3CDTF">2021-01-19T01:45:28Z</dcterms:created>
  <dcterms:modified xsi:type="dcterms:W3CDTF">2024-06-24T06:05:06Z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